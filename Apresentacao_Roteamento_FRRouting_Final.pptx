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63a7cdbf17459c" /><Relationship Type="http://schemas.openxmlformats.org/officeDocument/2006/relationships/extended-properties" Target="/docProps/app.xml" Id="R9510e84777df4f1e" /><Relationship Type="http://schemas.openxmlformats.org/officeDocument/2006/relationships/officeDocument" Target="/ppt/presentation.xml" Id="Rfccaedca873c48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f1c2a4c1ec477a"/>
  </p:sldMasterIdLst>
  <p:notesMasterIdLst>
    <p:notesMasterId xmlns:r="http://schemas.openxmlformats.org/officeDocument/2006/relationships" r:id="Rc20a5293177a47f2"/>
  </p:notesMasterIdLst>
  <p:sldIdLst>
    <p:sldId xmlns:r="http://schemas.openxmlformats.org/officeDocument/2006/relationships" id="256" r:id="Re7ab98a736a843d1"/>
    <p:sldId xmlns:r="http://schemas.openxmlformats.org/officeDocument/2006/relationships" id="257" r:id="R9775d5ffd25543a8"/>
    <p:sldId xmlns:r="http://schemas.openxmlformats.org/officeDocument/2006/relationships" id="258" r:id="Rc749d84b60634b29"/>
    <p:sldId xmlns:r="http://schemas.openxmlformats.org/officeDocument/2006/relationships" id="259" r:id="R9241b7844a694f0e"/>
    <p:sldId xmlns:r="http://schemas.openxmlformats.org/officeDocument/2006/relationships" id="260" r:id="Rad1bc6d040304a28"/>
    <p:sldId xmlns:r="http://schemas.openxmlformats.org/officeDocument/2006/relationships" id="261" r:id="R38150b0618434e4a"/>
    <p:sldId xmlns:r="http://schemas.openxmlformats.org/officeDocument/2006/relationships" id="262" r:id="R1c8746d24fb44b31"/>
    <p:sldId xmlns:r="http://schemas.openxmlformats.org/officeDocument/2006/relationships" id="263" r:id="R99ff4349be554bb0"/>
    <p:sldId xmlns:r="http://schemas.openxmlformats.org/officeDocument/2006/relationships" id="264" r:id="R63549a4ec9ae476e"/>
    <p:sldId xmlns:r="http://schemas.openxmlformats.org/officeDocument/2006/relationships" id="265" r:id="R55f92fba6eaf4ae5"/>
    <p:sldId xmlns:r="http://schemas.openxmlformats.org/officeDocument/2006/relationships" id="266" r:id="Re85ea04b2d994fe4"/>
    <p:sldId xmlns:r="http://schemas.openxmlformats.org/officeDocument/2006/relationships" id="267" r:id="Rbf965198e6a64a05"/>
    <p:sldId xmlns:r="http://schemas.openxmlformats.org/officeDocument/2006/relationships" id="268" r:id="Ra17c6a8f11084f6b"/>
    <p:sldId xmlns:r="http://schemas.openxmlformats.org/officeDocument/2006/relationships" id="269" r:id="R36e465c9ebb74c4e"/>
    <p:sldId xmlns:r="http://schemas.openxmlformats.org/officeDocument/2006/relationships" id="270" r:id="R69d4b5fcf0314c6f"/>
    <p:sldId xmlns:r="http://schemas.openxmlformats.org/officeDocument/2006/relationships" id="271" r:id="R3aeae33983204313"/>
    <p:sldId xmlns:r="http://schemas.openxmlformats.org/officeDocument/2006/relationships" id="272" r:id="R7b71c9b460d54f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ffb23850ee40d1" /><Relationship Type="http://schemas.openxmlformats.org/officeDocument/2006/relationships/slideMaster" Target="/ppt/slideMasters/slideMaster1.xml" Id="Rdcf1c2a4c1ec477a" /><Relationship Type="http://schemas.openxmlformats.org/officeDocument/2006/relationships/notesMaster" Target="/ppt/notesMasters/notesMaster1.xml" Id="Rc20a5293177a47f2" /><Relationship Type="http://schemas.openxmlformats.org/officeDocument/2006/relationships/presProps" Target="/ppt/presProps.xml" Id="R9c21b845baf44b1b" /><Relationship Type="http://schemas.openxmlformats.org/officeDocument/2006/relationships/tableStyles" Target="/ppt/tableStyles.xml" Id="R2d2c00c1dfb5450c" /><Relationship Type="http://schemas.openxmlformats.org/officeDocument/2006/relationships/slide" Target="/ppt/slides/slide1.xml" Id="Re7ab98a736a843d1" /><Relationship Type="http://schemas.openxmlformats.org/officeDocument/2006/relationships/slide" Target="/ppt/slides/slide2.xml" Id="R9775d5ffd25543a8" /><Relationship Type="http://schemas.openxmlformats.org/officeDocument/2006/relationships/slide" Target="/ppt/slides/slide3.xml" Id="Rc749d84b60634b29" /><Relationship Type="http://schemas.openxmlformats.org/officeDocument/2006/relationships/slide" Target="/ppt/slides/slide4.xml" Id="R9241b7844a694f0e" /><Relationship Type="http://schemas.openxmlformats.org/officeDocument/2006/relationships/slide" Target="/ppt/slides/slide5.xml" Id="Rad1bc6d040304a28" /><Relationship Type="http://schemas.openxmlformats.org/officeDocument/2006/relationships/slide" Target="/ppt/slides/slide6.xml" Id="R38150b0618434e4a" /><Relationship Type="http://schemas.openxmlformats.org/officeDocument/2006/relationships/slide" Target="/ppt/slides/slide7.xml" Id="R1c8746d24fb44b31" /><Relationship Type="http://schemas.openxmlformats.org/officeDocument/2006/relationships/slide" Target="/ppt/slides/slide8.xml" Id="R99ff4349be554bb0" /><Relationship Type="http://schemas.openxmlformats.org/officeDocument/2006/relationships/slide" Target="/ppt/slides/slide9.xml" Id="R63549a4ec9ae476e" /><Relationship Type="http://schemas.openxmlformats.org/officeDocument/2006/relationships/slide" Target="/ppt/slides/slide10.xml" Id="R55f92fba6eaf4ae5" /><Relationship Type="http://schemas.openxmlformats.org/officeDocument/2006/relationships/slide" Target="/ppt/slides/slide11.xml" Id="Re85ea04b2d994fe4" /><Relationship Type="http://schemas.openxmlformats.org/officeDocument/2006/relationships/slide" Target="/ppt/slides/slide12.xml" Id="Rbf965198e6a64a05" /><Relationship Type="http://schemas.openxmlformats.org/officeDocument/2006/relationships/slide" Target="/ppt/slides/slide13.xml" Id="Ra17c6a8f11084f6b" /><Relationship Type="http://schemas.openxmlformats.org/officeDocument/2006/relationships/slide" Target="/ppt/slides/slide14.xml" Id="R36e465c9ebb74c4e" /><Relationship Type="http://schemas.openxmlformats.org/officeDocument/2006/relationships/slide" Target="/ppt/slides/slide15.xml" Id="R69d4b5fcf0314c6f" /><Relationship Type="http://schemas.openxmlformats.org/officeDocument/2006/relationships/slide" Target="/ppt/slides/slide16.xml" Id="R3aeae33983204313" /><Relationship Type="http://schemas.openxmlformats.org/officeDocument/2006/relationships/slide" Target="/ppt/slides/slide17.xml" Id="R7b71c9b460d54f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17d9e3f48f48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c78120f35343fb" /><Relationship Type="http://schemas.openxmlformats.org/officeDocument/2006/relationships/notesMaster" Target="/ppt/notesMasters/notesMaster1.xml" Id="Rc5695598bbd34e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e64e33f8d94c3d" /><Relationship Type="http://schemas.openxmlformats.org/officeDocument/2006/relationships/notesMaster" Target="/ppt/notesMasters/notesMaster1.xml" Id="R6d9bfee5b78141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6fa6c2aa144e9a" /><Relationship Type="http://schemas.openxmlformats.org/officeDocument/2006/relationships/notesMaster" Target="/ppt/notesMasters/notesMaster1.xml" Id="Rf92f4acc945149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2b597e5ef54e19" /><Relationship Type="http://schemas.openxmlformats.org/officeDocument/2006/relationships/notesMaster" Target="/ppt/notesMasters/notesMaster1.xml" Id="R83f7d3b4fff044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676e70ecc6439c" /><Relationship Type="http://schemas.openxmlformats.org/officeDocument/2006/relationships/notesMaster" Target="/ppt/notesMasters/notesMaster1.xml" Id="Rd90c1f8f14dd41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d9d22371e34d09" /><Relationship Type="http://schemas.openxmlformats.org/officeDocument/2006/relationships/notesMaster" Target="/ppt/notesMasters/notesMaster1.xml" Id="R398bd9fdca1744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0adf688d6a4227" /><Relationship Type="http://schemas.openxmlformats.org/officeDocument/2006/relationships/notesMaster" Target="/ppt/notesMasters/notesMaster1.xml" Id="R32fdf099804746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55f30ad66f4ff1" /><Relationship Type="http://schemas.openxmlformats.org/officeDocument/2006/relationships/notesMaster" Target="/ppt/notesMasters/notesMaster1.xml" Id="R849af763d38241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bc47af20f94652" /><Relationship Type="http://schemas.openxmlformats.org/officeDocument/2006/relationships/notesMaster" Target="/ppt/notesMasters/notesMaster1.xml" Id="R48331e5f74ab48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b451e8f2484621" /><Relationship Type="http://schemas.openxmlformats.org/officeDocument/2006/relationships/notesMaster" Target="/ppt/notesMasters/notesMaster1.xml" Id="Re99a39fa295d4c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4e7d5bd9b94f26" /><Relationship Type="http://schemas.openxmlformats.org/officeDocument/2006/relationships/notesMaster" Target="/ppt/notesMasters/notesMaster1.xml" Id="Ra9f6bf7af79944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f3fd5385c484f5c" /><Relationship Type="http://schemas.openxmlformats.org/officeDocument/2006/relationships/notesMaster" Target="/ppt/notesMasters/notesMaster1.xml" Id="R22e17f86f1c741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0e82b72ecb4577" /><Relationship Type="http://schemas.openxmlformats.org/officeDocument/2006/relationships/notesMaster" Target="/ppt/notesMasters/notesMaster1.xml" Id="R9d3790cc749540d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bc8933de67c40c7" /><Relationship Type="http://schemas.openxmlformats.org/officeDocument/2006/relationships/notesMaster" Target="/ppt/notesMasters/notesMaster1.xml" Id="R25ca7371755e421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359aa1d35bd41f5" /><Relationship Type="http://schemas.openxmlformats.org/officeDocument/2006/relationships/notesMaster" Target="/ppt/notesMasters/notesMaster1.xml" Id="R89151aa2477d42d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a584aee2aef4f28" /><Relationship Type="http://schemas.openxmlformats.org/officeDocument/2006/relationships/notesMaster" Target="/ppt/notesMasters/notesMaster1.xml" Id="R6db74d720a4e43a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998cd2dedb84f57" /><Relationship Type="http://schemas.openxmlformats.org/officeDocument/2006/relationships/notesMaster" Target="/ppt/notesMasters/notesMaster1.xml" Id="R173a7eae2b804b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tema. O laboratório compara dois protocolos e um algoritmo próprio na mesma topologia de cinco roteadores. Fonte: scripts e resultados do projeto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 objetivo e ressalte que as três soluções foram testadas separadamente, como exigido. Fonte: enunciado e lab_setup_and_run.sh.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a pilha de implementação. FRRouting foi instalado no Ubuntu e os roteadores foram isolados com namespaces Linux. Fonte: README.md e lab_setup_and_run.sh.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Diferencie a implementação física virtual da topologia lógica. Cada namespace tem interfaces próprias, tabela de rotas própria e instâncias separadas do FRR.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os sete enlaces exatamente como criados pelo script: R1-R2, R1-R3, R2-R3, R2-R4, R3-R4, R3-R5 e R4-R5. Fonte: setup_topology em lab_setup_and_run.sh.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o laboratório foi recriado antes de cada teste. As soluções nunca rodaram ao mesmo tempo.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OSPF como um mapa compartilhado. Ele funciona bem dentro de uma rede administrada pela mesma organização.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OSPF funcionou, formou vizinhanças e aprendeu as redes. Explique com simplicidade a limitação do enlace escolhido para a falha.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eBGP como a troca de destinos entre redes diferentes. No trabalho, cada roteador recebeu um número de AS próprio.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R1 falava diretamente com R2 e R3. Após a queda entre R3 e R5, o acesso à LAN 5 continuou por R4.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MC significa múltiplos critérios. Dijkstra encontra o caminho com a menor soma das notas.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a troca de caminho. A rota inicial usava R3. Quando R1-R3 caiu, o programa passou a usar R2.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as métricas sem entrar nos comandos. A ideia é mostrar rotas, conversa de controle, atraso, vazão e reação à falha.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pacotes, taxa derivada de controle e tamanho da tabela. Não interprete zero pacotes como custo total zero, pois o algoritmo ainda consome processamento no controlador.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a mesma falha R3-R5 foi aplicada três vezes em cada solução. OSPF respondeu em média em 29 ms, MC-Dijkstra em 184 ms e eBGP em 1.212 ms. OSPF e MC-Dijkstra não perderam pings porque suas rotas ativas já evitavam R3-R5. O eBGP perdeu três tentativas por repetição e trocou a rota em R3. Todos chegaram novamente ao R5.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esta tabela para resumir as diferenças em linguagem simples. Cada solução foi criada para uma necessidade diferente.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Conclua que o OSPF foi a melhor escolha neste cenário. A mesma falha R3-R5 foi repetida três vezes: OSPF 29 ms, MC-Dijkstra 184 ms e eBGP 1.212 ms em média. OSPF e MC-Dijkstra já usavam rotas que evitavam o enlace; o eBGP mudou a rota em R3 e recuperou a comunicação. OSPF ainda apresentou o menor RTT e a maior vazão. Ressalve que o resultado vale para esta topologia e esta falha. O teste pode ser repetido pelo 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6843612e4f4c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bb2106b5244ee1" /><Relationship Type="http://schemas.openxmlformats.org/officeDocument/2006/relationships/slideLayout" Target="/ppt/slideLayouts/slideLayout1.xml" Id="Rf390745f5a7e49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90745f5a7e49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d7d729a3b4b9e" /><Relationship Type="http://schemas.openxmlformats.org/officeDocument/2006/relationships/notesSlide" Target="/ppt/notesSlides/notesSlide1.xml" Id="R5e50cfc5c68145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41b2597814174" /><Relationship Type="http://schemas.openxmlformats.org/officeDocument/2006/relationships/notesSlide" Target="/ppt/notesSlides/notesSlide2.xml" Id="R5c741c7a901d4c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963f1f81a4996" /><Relationship Type="http://schemas.openxmlformats.org/officeDocument/2006/relationships/notesSlide" Target="/ppt/notesSlides/notesSlide3.xml" Id="R1084a21eb12a40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706e9ad5243b0" /><Relationship Type="http://schemas.openxmlformats.org/officeDocument/2006/relationships/notesSlide" Target="/ppt/notesSlides/notesSlide4.xml" Id="Rad094b910c034a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4a2d1480c4dfb" /><Relationship Type="http://schemas.openxmlformats.org/officeDocument/2006/relationships/notesSlide" Target="/ppt/notesSlides/notesSlide5.xml" Id="R76b0530e1d8f49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dc5255cfd4eb6" /><Relationship Type="http://schemas.openxmlformats.org/officeDocument/2006/relationships/notesSlide" Target="/ppt/notesSlides/notesSlide6.xml" Id="Raad3ad5d7bd142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a99dd39b34990" /><Relationship Type="http://schemas.openxmlformats.org/officeDocument/2006/relationships/notesSlide" Target="/ppt/notesSlides/notesSlide7.xml" Id="R176c71ac513a4c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0fdf2f1e547d2" /><Relationship Type="http://schemas.openxmlformats.org/officeDocument/2006/relationships/notesSlide" Target="/ppt/notesSlides/notesSlide8.xml" Id="R4a446651d0a044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a47d3877848ed" /><Relationship Type="http://schemas.openxmlformats.org/officeDocument/2006/relationships/notesSlide" Target="/ppt/notesSlides/notesSlide9.xml" Id="Rb3af71289c8c4b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fcb2171df44ea" /><Relationship Type="http://schemas.openxmlformats.org/officeDocument/2006/relationships/notesSlide" Target="/ppt/notesSlides/notesSlide10.xml" Id="Recc9439c0f7642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700809a024f40" /><Relationship Type="http://schemas.openxmlformats.org/officeDocument/2006/relationships/notesSlide" Target="/ppt/notesSlides/notesSlide11.xml" Id="Rbea1805520f741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d7904d8264bd3" /><Relationship Type="http://schemas.openxmlformats.org/officeDocument/2006/relationships/notesSlide" Target="/ppt/notesSlides/notesSlide12.xml" Id="Rfca63fe1d41a498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d5ca8b3064cd0" /><Relationship Type="http://schemas.openxmlformats.org/officeDocument/2006/relationships/notesSlide" Target="/ppt/notesSlides/notesSlide13.xml" Id="Race3cbcbb36d459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2d5af4c4a441a" /><Relationship Type="http://schemas.openxmlformats.org/officeDocument/2006/relationships/chart" Target="/ppt/slides/charts/chart1.xml" Id="R8992f210ad0f41ed" /><Relationship Type="http://schemas.openxmlformats.org/officeDocument/2006/relationships/chart" Target="/ppt/slides/charts/chart2.xml" Id="R5ac722b5ebe74ee4" /><Relationship Type="http://schemas.openxmlformats.org/officeDocument/2006/relationships/chart" Target="/ppt/slides/charts/chart3.xml" Id="R6362e3f7e89b48c0" /><Relationship Type="http://schemas.openxmlformats.org/officeDocument/2006/relationships/notesSlide" Target="/ppt/notesSlides/notesSlide14.xml" Id="Rdb01637aacaf40f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2e946fe7449b1" /><Relationship Type="http://schemas.openxmlformats.org/officeDocument/2006/relationships/chart" Target="/ppt/slides/charts/chart4.xml" Id="Ra5746491aec54ca6" /><Relationship Type="http://schemas.openxmlformats.org/officeDocument/2006/relationships/chart" Target="/ppt/slides/charts/chart5.xml" Id="R566a84120ca04bd3" /><Relationship Type="http://schemas.openxmlformats.org/officeDocument/2006/relationships/chart" Target="/ppt/slides/charts/chart6.xml" Id="R0d0c0c6901d24e7e" /><Relationship Type="http://schemas.openxmlformats.org/officeDocument/2006/relationships/notesSlide" Target="/ppt/notesSlides/notesSlide15.xml" Id="R4faa021c2bf54f5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7eda924784aec" /><Relationship Type="http://schemas.openxmlformats.org/officeDocument/2006/relationships/notesSlide" Target="/ppt/notesSlides/notesSlide16.xml" Id="R80645c29ed4a4ee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49830f0454468" /><Relationship Type="http://schemas.openxmlformats.org/officeDocument/2006/relationships/notesSlide" Target="/ppt/notesSlides/notesSlide17.xml" Id="R15716a32e7634b4c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ptos"/>
                <a:ea typeface="Aptos"/>
                <a:cs typeface="Aptos"/>
              </a:rPr>
              <a:t>Pacotes de controle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ptos"/>
              <a:ea typeface="Aptos"/>
              <a:cs typeface="Apto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Pacotes</c:v>
          </c:tx>
          <c:spPr>
            <a:solidFill xmlns:a="http://schemas.openxmlformats.org/drawingml/2006/main">
              <a:srgbClr val="25B8C7"/>
            </a:solidFill>
          </c:spPr>
          <c:cat>
            <c:strLit>
              <c:ptCount val="3"/>
              <c:pt idx="0">
                <c:v>OSPF</c:v>
              </c:pt>
              <c:pt idx="1">
                <c:v>eBGP</c:v>
              </c:pt>
              <c:pt idx="2">
                <c:v>MC-Dijkstra</c:v>
              </c:pt>
            </c:strLit>
          </c:cat>
          <c:val>
            <c:numLit>
              <c:formatCode>General</c:formatCode>
              <c:ptCount val="3"/>
              <c:pt idx="0">
                <c:v>12</c:v>
              </c:pt>
              <c:pt idx="1">
                <c:v>18</c:v>
              </c:pt>
              <c:pt idx="2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ptos"/>
                <a:ea typeface="Aptos"/>
                <a:cs typeface="Aptos"/>
              </a:rPr>
              <a:t>Taxa de controle (bit/s)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ptos"/>
              <a:ea typeface="Aptos"/>
              <a:cs typeface="Apto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bit/s</c:v>
          </c:tx>
          <c:spPr>
            <a:solidFill xmlns:a="http://schemas.openxmlformats.org/drawingml/2006/main">
              <a:srgbClr val="E99B2B"/>
            </a:solidFill>
          </c:spPr>
          <c:cat>
            <c:strLit>
              <c:ptCount val="3"/>
              <c:pt idx="0">
                <c:v>OSPF</c:v>
              </c:pt>
              <c:pt idx="1">
                <c:v>eBGP</c:v>
              </c:pt>
              <c:pt idx="2">
                <c:v>MC-Dijkstra</c:v>
              </c:pt>
            </c:strLit>
          </c:cat>
          <c:val>
            <c:numLit>
              <c:formatCode>General</c:formatCode>
              <c:ptCount val="3"/>
              <c:pt idx="0">
                <c:v>768</c:v>
              </c:pt>
              <c:pt idx="1">
                <c:v>304</c:v>
              </c:pt>
              <c:pt idx="2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ptos"/>
                <a:ea typeface="Aptos"/>
                <a:cs typeface="Aptos"/>
              </a:rPr>
              <a:t>Rotas IPv4 em R1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ptos"/>
              <a:ea typeface="Aptos"/>
              <a:cs typeface="Apto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Rotas</c:v>
          </c:tx>
          <c:spPr>
            <a:solidFill xmlns:a="http://schemas.openxmlformats.org/drawingml/2006/main">
              <a:srgbClr val="2B9A81"/>
            </a:solidFill>
          </c:spPr>
          <c:cat>
            <c:strLit>
              <c:ptCount val="3"/>
              <c:pt idx="0">
                <c:v>OSPF</c:v>
              </c:pt>
              <c:pt idx="1">
                <c:v>eBGP</c:v>
              </c:pt>
              <c:pt idx="2">
                <c:v>MC-Dijkstra</c:v>
              </c:pt>
            </c:strLit>
          </c:cat>
          <c:val>
            <c:numLit>
              <c:formatCode>General</c:formatCode>
              <c:ptCount val="3"/>
              <c:pt idx="0">
                <c:v>12</c:v>
              </c:pt>
              <c:pt idx="1">
                <c:v>7</c:v>
              </c:pt>
              <c:pt idx="2">
                <c:v>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ptos"/>
                <a:ea typeface="Aptos"/>
                <a:cs typeface="Aptos"/>
              </a:rPr>
              <a:t>RTT médio (ms)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ptos"/>
              <a:ea typeface="Aptos"/>
              <a:cs typeface="Apto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ms</c:v>
          </c:tx>
          <c:spPr>
            <a:solidFill xmlns:a="http://schemas.openxmlformats.org/drawingml/2006/main">
              <a:srgbClr val="25B8C7"/>
            </a:solidFill>
          </c:spPr>
          <c:cat>
            <c:strLit>
              <c:ptCount val="3"/>
              <c:pt idx="0">
                <c:v>OSPF</c:v>
              </c:pt>
              <c:pt idx="1">
                <c:v>eBGP</c:v>
              </c:pt>
              <c:pt idx="2">
                <c:v>MC-Dijkstra</c:v>
              </c:pt>
            </c:strLit>
          </c:cat>
          <c:val>
            <c:numLit>
              <c:formatCode>General</c:formatCode>
              <c:ptCount val="3"/>
              <c:pt idx="0">
                <c:v>19.919</c:v>
              </c:pt>
              <c:pt idx="1">
                <c:v>24.966</c:v>
              </c:pt>
              <c:pt idx="2">
                <c:v>25.552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ptos"/>
                <a:ea typeface="Aptos"/>
                <a:cs typeface="Aptos"/>
              </a:rPr>
              <a:t>Vazão iperf3 (Mb/s)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ptos"/>
              <a:ea typeface="Aptos"/>
              <a:cs typeface="Apto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Mb/s</c:v>
          </c:tx>
          <c:spPr>
            <a:solidFill xmlns:a="http://schemas.openxmlformats.org/drawingml/2006/main">
              <a:srgbClr val="2B9A81"/>
            </a:solidFill>
          </c:spPr>
          <c:cat>
            <c:strLit>
              <c:ptCount val="3"/>
              <c:pt idx="0">
                <c:v>OSPF</c:v>
              </c:pt>
              <c:pt idx="1">
                <c:v>eBGP</c:v>
              </c:pt>
              <c:pt idx="2">
                <c:v>MC-Dijkstra</c:v>
              </c:pt>
            </c:strLit>
          </c:cat>
          <c:val>
            <c:numLit>
              <c:formatCode>General</c:formatCode>
              <c:ptCount val="3"/>
              <c:pt idx="0">
                <c:v>1518.94</c:v>
              </c:pt>
              <c:pt idx="1">
                <c:v>761.94</c:v>
              </c:pt>
              <c:pt idx="2">
                <c:v>1233.79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ptos"/>
                <a:ea typeface="Aptos"/>
                <a:cs typeface="Aptos"/>
              </a:rPr>
              <a:t>Mesma falha: resposta média (ms)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ptos"/>
              <a:ea typeface="Aptos"/>
              <a:cs typeface="Apto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ms</c:v>
          </c:tx>
          <c:spPr>
            <a:solidFill xmlns:a="http://schemas.openxmlformats.org/drawingml/2006/main">
              <a:srgbClr val="EF685C"/>
            </a:solidFill>
          </c:spPr>
          <c:cat>
            <c:strLit>
              <c:ptCount val="3"/>
              <c:pt idx="0">
                <c:v>OSPF</c:v>
              </c:pt>
              <c:pt idx="1">
                <c:v>eBGP</c:v>
              </c:pt>
              <c:pt idx="2">
                <c:v>MC-Dijkstra</c:v>
              </c:pt>
            </c:strLit>
          </c:cat>
          <c:val>
            <c:numLit>
              <c:formatCode>General</c:formatCode>
              <c:ptCount val="3"/>
              <c:pt idx="0">
                <c:v>29</c:v>
              </c:pt>
              <c:pt idx="1">
                <c:v>1212</c:v>
              </c:pt>
              <c:pt idx="2">
                <c:v>184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CDDCEF-49E7-4AB7-817A-EAC57CB5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FB8B8-A789-49E5-8A33-744D1226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CF458-7636-4ACB-A0D4-D0E023ED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638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ROTEAMENTO IP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EM TOPOLOGIA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REDUNDANTE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B5480-5D21-4664-BBD1-93B7FE3F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B8C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5B8C7"/>
                </a:solidFill>
                <a:latin typeface="Aptos"/>
                <a:ea typeface="Aptos"/>
                <a:cs typeface="Aptos"/>
              </a:rPr>
              <a:t>OSPF, eBGP e algoritmo MC-Dijkstra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79F8B-F1D1-42EA-A631-75671ED3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9D5E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9D5E2"/>
                </a:solidFill>
                <a:latin typeface="Aptos"/>
                <a:ea typeface="Aptos"/>
                <a:cs typeface="Aptos"/>
              </a:rPr>
              <a:t>Ambiente experimental com cinco roteadores em FRRouting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E5B5D-3439-45CB-A0E0-399BE378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91125"/>
            <a:ext cx="114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99B2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00983-2DA9-4890-AB6D-84F28F18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Henrique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DEE32-1539-465F-8F17-49EF865C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95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28575">
            <a:solidFill>
              <a:srgbClr val="EF685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62373-E616-4AC1-B92B-E84AFD51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908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4AF76-5AD2-4B6F-9B1D-AC9B1692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478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28575">
            <a:solidFill>
              <a:srgbClr val="25B8C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BE14C-F688-4CD7-8FEB-85DBA424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431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EF61D-17B9-453B-8190-9EAB860E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433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28575">
            <a:solidFill>
              <a:srgbClr val="E99B2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BA51F-EB8B-40DC-97CF-4D52F851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386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63040-A936-4146-B93B-D484BB81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0478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28575">
            <a:solidFill>
              <a:srgbClr val="2B9A8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8C2BFE-DDD5-47B9-8D02-8A208207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1431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57DB21-6824-453F-B783-3DC4BC28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433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28575">
            <a:solidFill>
              <a:srgbClr val="775A9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DF093E-9257-452F-9767-BA67006A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2386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R5</a:t>
            </a:r>
          </a:p>
        </p:txBody>
      </p:sp>
      <p:cxnSp>
        <p:nvCxnSpPr>
          <p:cNvPr id="42" name=""/>
          <p:cNvCxnSpPr>
            <a:stCxn xmlns:a="http://schemas.openxmlformats.org/drawingml/2006/main" id="8" idx="7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V="1">
            <a:off x="8852390" y="2470640"/>
            <a:ext cx="840395" cy="6975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C839C"/>
            </a:solidFill>
            <a:prstDash val="solid"/>
          </a:ln>
        </p:spPr>
      </p:cxnSp>
      <p:cxnSp>
        <p:nvCxnSpPr>
          <p:cNvPr id="43" name=""/>
          <p:cNvCxnSpPr>
            <a:stCxn xmlns:a="http://schemas.openxmlformats.org/drawingml/2006/main" id="8" idx="5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852390" y="3518390"/>
            <a:ext cx="840395" cy="6975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C839C"/>
            </a:solidFill>
            <a:prstDash val="solid"/>
          </a:ln>
        </p:spPr>
      </p:cxnSp>
      <p:cxnSp>
        <p:nvCxnSpPr>
          <p:cNvPr id="44" name=""/>
          <p:cNvCxnSpPr>
            <a:stCxn xmlns:a="http://schemas.openxmlformats.org/drawingml/2006/main" id="10" idx="4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9867900" y="2543175"/>
            <a:ext cx="0" cy="1600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C839C"/>
            </a:solidFill>
            <a:prstDash val="solid"/>
          </a:ln>
        </p:spPr>
      </p:cxnSp>
      <p:cxnSp>
        <p:nvCxnSpPr>
          <p:cNvPr id="45" name=""/>
          <p:cNvCxnSpPr>
            <a:stCxn xmlns:a="http://schemas.openxmlformats.org/drawingml/2006/main" id="10" idx="6"/>
            <a:endCxn xmlns:a="http://schemas.openxmlformats.org/drawingml/2006/main" id="14" idx="2"/>
          </p:cNvCxnSpPr>
          <p:nvPr/>
        </p:nvCxnSpPr>
        <p:spPr>
          <a:xfrm xmlns:a="http://schemas.openxmlformats.org/drawingml/2006/main">
            <a:off x="10115550" y="2295525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C839C"/>
            </a:solidFill>
            <a:prstDash val="solid"/>
          </a:ln>
        </p:spPr>
      </p:cxnSp>
      <p:cxnSp>
        <p:nvCxnSpPr>
          <p:cNvPr id="46" name=""/>
          <p:cNvCxnSpPr>
            <a:stCxn xmlns:a="http://schemas.openxmlformats.org/drawingml/2006/main" id="12" idx="7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V="1">
            <a:off x="10043015" y="2470640"/>
            <a:ext cx="1078520" cy="17452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C839C"/>
            </a:solidFill>
            <a:prstDash val="solid"/>
          </a:ln>
        </p:spPr>
      </p:cxnSp>
      <p:cxnSp>
        <p:nvCxnSpPr>
          <p:cNvPr id="47" name=""/>
          <p:cNvCxnSpPr>
            <a:stCxn xmlns:a="http://schemas.openxmlformats.org/drawingml/2006/main" id="12" idx="6"/>
            <a:endCxn xmlns:a="http://schemas.openxmlformats.org/drawingml/2006/main" id="16" idx="2"/>
          </p:cNvCxnSpPr>
          <p:nvPr/>
        </p:nvCxnSpPr>
        <p:spPr>
          <a:xfrm xmlns:a="http://schemas.openxmlformats.org/drawingml/2006/main">
            <a:off x="10115550" y="4391025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C839C"/>
            </a:solidFill>
            <a:prstDash val="solid"/>
          </a:ln>
        </p:spPr>
      </p:cxnSp>
      <p:cxnSp>
        <p:nvCxnSpPr>
          <p:cNvPr id="48" name=""/>
          <p:cNvCxnSpPr>
            <a:stCxn xmlns:a="http://schemas.openxmlformats.org/drawingml/2006/main" id="14" idx="4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1296650" y="2543175"/>
            <a:ext cx="0" cy="1600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C839C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21236090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D7E0A4-6C30-4C53-B222-6351E92B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C279E-2BAE-42EE-9BFE-D5BA85D6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INTRODUÇÃO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37053-EE98-4FB9-805B-235E2295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Objetivo e escopo técnico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402E8-7BAD-4317-88DA-78724707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744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O experimento avalia como três soluções constroem rotas, mantêm conectividade e utilizam recursos de controle.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A5BCE-6C4D-4AAA-A85C-53990534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Questão central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D1AD1-C032-4FFC-8B48-0E13AB3F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93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Como a decisão de rota muda quando a rede oferece caminhos alternativos e um enlace fica indisponível?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DC974-17A6-48A3-9E3F-A1A58AB1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A9953-A8E2-46EB-8FAE-D9BF4119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1CCBD-049F-4612-A63F-B7D4AA34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4752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Dois protocolos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BFB42-1998-409F-9961-F7B46916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71975"/>
            <a:ext cx="47529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OSPF representa roteamento interno baseado em estado de enlace. eBGP representa troca de rotas entre sistemas autônomos.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185A7-6804-4186-883E-EFC262E8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81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B2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07A6B-FFF2-4094-9278-2EE7F29B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Um algoritmo próprio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6CEA3-55B1-4097-9443-9B0044B7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71975"/>
            <a:ext cx="4800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MC-Dijkstra combina atraso, capacidade nominal e confiabilidade para formar o custo de cada enlace.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F99D4-203A-4526-9DC9-58B3E3E2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9A8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C7C26-53B0-49B8-99B3-7E950A91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91125"/>
            <a:ext cx="4752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Execução separada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E6DD4-FC01-4237-9BF8-66635A02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47529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O script recria a topologia antes de cada rodada. As soluções não operam simultaneamente.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AD1799-FD30-423F-B94F-D04ED2CF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768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85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FB970E-4D48-4F3C-9AB1-59557D63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91125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Mesma rede de 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F4ED06-A6D1-445C-A8E7-951BE9F9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67350"/>
            <a:ext cx="4800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Cinco roteadores, sete enlaces redundantes e uma LAN de acesso ligada a cada roteador.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0C2D15-6822-4745-BECD-04B65289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0B2D13-1BAE-4EFB-8E76-9AFA6365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511540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EA93C9-6BB3-4D9F-969E-45794370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8614D-9788-44F9-A453-0C3A49C8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IMPLEMENTAÇÃO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24547-124B-4DDF-B986-1BC0B38B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Plataforma e ferramentas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0EDCF-D02E-4562-AFDC-9232E95A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A rede inteira foi construída dentro de uma máquina virtual Ubuntu.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B0334-2955-48BD-AC9B-0CC7E0FD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952625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F685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61E54-474D-433C-954A-9E588FFE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VirtualBox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518EC-6209-4091-AED2-4B6895DF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Isola o sistema convidado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666C9-1454-4D83-9D9E-A440CB88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14625"/>
            <a:ext cx="428625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7DE"/>
          </a:solidFill>
          <a:ln xmlns:a="http://schemas.openxmlformats.org/drawingml/2006/main" w="0">
            <a:solidFill>
              <a:srgbClr val="CFD7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645B7-C1CF-47C5-A150-D2AC9494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1952625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99B2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41D8A-46BC-4FEB-AB1E-F51D11B6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193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Ubuntu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34D0D-4886-4331-ABC5-9A40414C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33700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Hospeda o laboratório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EE1D5-CD4D-4A80-B7A5-7F024DE7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14625"/>
            <a:ext cx="428625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7DE"/>
          </a:solidFill>
          <a:ln xmlns:a="http://schemas.openxmlformats.org/drawingml/2006/main" w="0">
            <a:solidFill>
              <a:srgbClr val="CFD7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ECB10-AE7F-4417-A6D3-13A16F17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90750"/>
            <a:ext cx="1952625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5B8C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8C328-C33A-466F-820B-7B1D6C96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193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80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Namespaces Linux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FD430-E839-423D-9E5A-43EA9425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33700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Representam R1 a R5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CBC36-CE81-46CD-B51E-9042A104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14625"/>
            <a:ext cx="428625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7DE"/>
          </a:solidFill>
          <a:ln xmlns:a="http://schemas.openxmlformats.org/drawingml/2006/main" w="0">
            <a:solidFill>
              <a:srgbClr val="CFD7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F7C7C2-6E4B-4CCC-AFDD-AF1FAA9E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1952625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B9A8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0AC883-5416-4C25-9E19-15B5597B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193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74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FRRouting 10.5.1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DAEE17-67C1-4399-ABE6-B6160039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33700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Executa OSPF e eBGP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1E20C2-D904-4A0B-A3A1-59C23B7B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Medição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732F84-5950-4608-BB83-4C49D170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85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9E474E-5446-4CB5-87F7-200BBCDA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1962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tc netem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90204F-EF11-4623-B1A7-FAA07580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9585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3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Insere atraso em cada par de interfaces veth.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B72708-147D-4814-9FF5-F428B717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05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41D55E-0D5E-461D-812C-7472DEBC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196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tcpdump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EAD04A-5530-4733-B513-0373D645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9585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Conta pacotes e bytes de controle durante 6 segundos.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8EEA26-D257-4320-8798-165BF12A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05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9A81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9789C5-5664-4B1D-840F-6A8F5C69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19625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ping e iperf3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AC61C1-EC05-4C07-90D2-6510B59C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95850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Medem RTT e vazão entre as LANs de R1 e R5.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1641F9-EDE4-4D20-B63E-A2178096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F17A50-4298-4662-8EFC-F0476E28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218794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039CC7-59B8-4088-8F35-5A9EFC7D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E8503-0D64-404A-B5CF-6201621D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TOPOLOGIA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13867-0B0C-48A2-82A0-3C5D6B4B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Topologia física virtual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8C4AA-7F77-41D2-B018-24E3388D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10875" cy="4524375"/>
          </a:xfrm>
          <a:prstGeom xmlns:a="http://schemas.openxmlformats.org/drawingml/2006/main" prst="roundRect">
            <a:avLst>
              <a:gd name="adj" fmla="val 3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D7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FD516-B08E-4EEE-AF39-1E39DE22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04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Máquina virtual Ubuntu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183F2-D8FD-4CA3-AB35-D7CA29B8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16668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28575">
            <a:solidFill>
              <a:srgbClr val="EF685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0FC3C-C271-4C23-BB54-B1911A7D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2412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Namespace r1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E1DB4-5F31-49C8-B555-3FFC4C26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952750"/>
            <a:ext cx="1438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zebra + protocolo</a:t>
            </a:r>
          </a:p>
          <a:p xmlns:a="http://schemas.openxmlformats.org/drawingml/2006/main">
            <a:pPr algn="ctr">
              <a:defRPr sz="10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lan: 10.10.1.1/24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ED1F0-AA49-453E-8D69-425E1884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33625"/>
            <a:ext cx="16668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28575">
            <a:solidFill>
              <a:srgbClr val="25B8C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AF0022-32CB-453F-A5FC-CD8E8909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52412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Namespace r2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9E7CF-EE99-469F-A17A-8BFE4335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52750"/>
            <a:ext cx="1438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zebra + protocolo</a:t>
            </a:r>
          </a:p>
          <a:p xmlns:a="http://schemas.openxmlformats.org/drawingml/2006/main">
            <a:pPr algn="ctr">
              <a:defRPr sz="10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lan: 10.10.2.1/24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342F1-9506-4FCF-96DB-3193C19E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33625"/>
            <a:ext cx="16668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28575">
            <a:solidFill>
              <a:srgbClr val="E99B2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37C61-8CE9-4F6E-B1CC-D89F43C6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2412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Namespace r3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A0B41E-A0A0-4CF9-B92F-771CB551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952750"/>
            <a:ext cx="1438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zebra + protocolo</a:t>
            </a:r>
          </a:p>
          <a:p xmlns:a="http://schemas.openxmlformats.org/drawingml/2006/main">
            <a:pPr algn="ctr">
              <a:defRPr sz="10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lan: 10.10.3.1/24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FB2E7F-38BF-4050-8B5C-3D7A33F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33625"/>
            <a:ext cx="16668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28575">
            <a:solidFill>
              <a:srgbClr val="2B9A8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3C860-6F6B-473E-B574-36A6230D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2412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Namespace r4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B1F3F6-40C9-4195-B0E6-77E1090A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52750"/>
            <a:ext cx="1438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zebra + protocolo</a:t>
            </a:r>
          </a:p>
          <a:p xmlns:a="http://schemas.openxmlformats.org/drawingml/2006/main">
            <a:pPr algn="ctr">
              <a:defRPr sz="10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lan: 10.10.4.1/24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0C88A1-1497-4E1F-9604-DC2FD777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33625"/>
            <a:ext cx="16668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28575">
            <a:solidFill>
              <a:srgbClr val="775A9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97899D-F9FA-44FD-B0AC-8EDF9EFF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2412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Namespace r5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BCFA56-5FD5-463F-BA89-354339F4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952750"/>
            <a:ext cx="1438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zebra + protocolo</a:t>
            </a:r>
          </a:p>
          <a:p xmlns:a="http://schemas.openxmlformats.org/drawingml/2006/main">
            <a:pPr algn="ctr">
              <a:defRPr sz="10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lan: 10.10.5.1/24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497EFA-44DA-4E18-A958-0E80FFAB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957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7182C"/>
                </a:solidFill>
                <a:latin typeface="Aptos"/>
                <a:ea typeface="Aptos"/>
                <a:cs typeface="Aptos"/>
              </a:rPr>
              <a:t>Os pares veth funcionam como cabos virtuais. Cada enlace possui duas interfaces e uma rede /30.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734B99-124E-48E9-A395-CE787540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14875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Cada LAN usa uma interface dummy. O kernel encaminha pacotes porque net.ipv4.ip_forward está habilitado.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BB0F95-C06A-4E19-A3AB-B02BCDD9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876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B8C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3D25BD-DA80-40F8-9144-E93156A8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38750"/>
            <a:ext cx="514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B8C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B8C7"/>
                </a:solidFill>
                <a:latin typeface="Aptos"/>
                <a:ea typeface="Aptos"/>
                <a:cs typeface="Aptos"/>
              </a:rPr>
              <a:t>Um único computador simula cinco roteadores independentes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662A5F-03E1-4D2A-B5FE-F4ED71D9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9C41A8-3A5E-45B4-B9BE-3B68A885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950708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AAAF85-E040-4401-9448-5D115E13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4D1EB-FD6C-498D-BA20-B86B6941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TOPOLOGIA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F9022-7E4F-4CD6-B972-770EAA12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Topologia lógica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3898D-00A3-445F-85A9-EBBAADAA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Sete enlaces criam rotas alternativas. As LANs de acesso usam 10.10.N.0/24.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F34A3-3EEA-40AE-8534-3C78C921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EF685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47DED-1828-4FF0-99DC-17BC0A79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R1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DFB2F-131F-44AB-8C3A-A2080684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192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5B8C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94767-28B0-4AAA-AF27-FBD7EF00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097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R2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CFAB7-9F46-48CA-A0F0-47A3FC4B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1487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E99B2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EDCC2-A607-4E7A-A0AF-44808976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053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R3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17B07-8337-41C8-8E1C-68368BB9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192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B9A8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50FAE-988B-4EA1-AF97-CBF0C5D0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8097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R4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880722-151C-4600-97F0-57BC5FB8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1487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775A9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A4F37D-0197-4E91-BEBB-BEA3B5D0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9053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R5</a:t>
            </a:r>
          </a:p>
        </p:txBody>
      </p:sp>
      <p:cxnSp>
        <p:nvCxnSpPr>
          <p:cNvPr id="58" name=""/>
          <p:cNvCxnSpPr>
            <a:stCxn xmlns:a="http://schemas.openxmlformats.org/drawingml/2006/main" id="5" idx="7"/>
            <a:endCxn xmlns:a="http://schemas.openxmlformats.org/drawingml/2006/main" id="7" idx="3"/>
          </p:cNvCxnSpPr>
          <p:nvPr/>
        </p:nvCxnSpPr>
        <p:spPr>
          <a:xfrm xmlns:a="http://schemas.openxmlformats.org/drawingml/2006/main" flipV="1">
            <a:off x="1616378" y="2302178"/>
            <a:ext cx="2120294" cy="958244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02A46"/>
            </a:solidFill>
            <a:prstDash val="solid"/>
          </a:ln>
        </p:spPr>
      </p:cxnSp>
      <p:cxnSp>
        <p:nvCxnSpPr>
          <p:cNvPr id="59" name=""/>
          <p:cNvCxnSpPr>
            <a:stCxn xmlns:a="http://schemas.openxmlformats.org/drawingml/2006/main" id="5" idx="5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616378" y="3826178"/>
            <a:ext cx="2120294" cy="100586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02A46"/>
            </a:solidFill>
            <a:prstDash val="solid"/>
          </a:ln>
        </p:spPr>
      </p:cxnSp>
      <p:cxnSp>
        <p:nvCxnSpPr>
          <p:cNvPr id="60" name=""/>
          <p:cNvCxnSpPr>
            <a:stCxn xmlns:a="http://schemas.openxmlformats.org/drawingml/2006/main" id="7" idx="4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4019550" y="2419350"/>
            <a:ext cx="0" cy="2295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02A46"/>
            </a:solidFill>
            <a:prstDash val="solid"/>
          </a:ln>
        </p:spPr>
      </p:cxnSp>
      <p:cxnSp>
        <p:nvCxnSpPr>
          <p:cNvPr id="61" name=""/>
          <p:cNvCxnSpPr>
            <a:stCxn xmlns:a="http://schemas.openxmlformats.org/drawingml/2006/main" id="7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4419600" y="2019300"/>
            <a:ext cx="32480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02A46"/>
            </a:solidFill>
            <a:prstDash val="solid"/>
          </a:ln>
        </p:spPr>
      </p:cxnSp>
      <p:cxnSp>
        <p:nvCxnSpPr>
          <p:cNvPr id="62" name=""/>
          <p:cNvCxnSpPr>
            <a:stCxn xmlns:a="http://schemas.openxmlformats.org/drawingml/2006/main" id="9" idx="7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V="1">
            <a:off x="4302428" y="2302178"/>
            <a:ext cx="3482369" cy="252986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02A46"/>
            </a:solidFill>
            <a:prstDash val="solid"/>
          </a:ln>
        </p:spPr>
      </p:cxnSp>
      <p:cxnSp>
        <p:nvCxnSpPr>
          <p:cNvPr id="63" name=""/>
          <p:cNvCxnSpPr>
            <a:stCxn xmlns:a="http://schemas.openxmlformats.org/drawingml/2006/main" id="9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4419600" y="5114925"/>
            <a:ext cx="32480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02A46"/>
            </a:solidFill>
            <a:prstDash val="solid"/>
          </a:ln>
        </p:spPr>
      </p:cxnSp>
      <p:cxnSp>
        <p:nvCxnSpPr>
          <p:cNvPr id="64" name=""/>
          <p:cNvCxnSpPr>
            <a:stCxn xmlns:a="http://schemas.openxmlformats.org/drawingml/2006/main" id="11" idx="4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8067675" y="2419350"/>
            <a:ext cx="0" cy="2295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02A46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D142A2-164E-4AC4-B068-3505A5B2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95500"/>
            <a:ext cx="12192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10.0.12.0/30</a:t>
            </a:r>
          </a:p>
          <a:p xmlns:a="http://schemas.openxmlformats.org/drawingml/2006/main">
            <a:pPr algn="ctr">
              <a:defRPr sz="9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2 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347720-A7AC-4438-B27C-9C629969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14875"/>
            <a:ext cx="12192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10.0.13.0/30</a:t>
            </a:r>
          </a:p>
          <a:p xmlns:a="http://schemas.openxmlformats.org/drawingml/2006/main">
            <a:pPr algn="ctr">
              <a:defRPr sz="9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4 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329138-6EC0-4D4B-A894-7776A028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90875"/>
            <a:ext cx="12192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10.0.23.0/30</a:t>
            </a:r>
          </a:p>
          <a:p xmlns:a="http://schemas.openxmlformats.org/drawingml/2006/main">
            <a:pPr algn="ctr">
              <a:defRPr sz="9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1 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587B06-8909-4BF3-8C31-E60CAF76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257300"/>
            <a:ext cx="12192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10.0.24.0/30</a:t>
            </a:r>
          </a:p>
          <a:p xmlns:a="http://schemas.openxmlformats.org/drawingml/2006/main">
            <a:pPr algn="ctr">
              <a:defRPr sz="9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8 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2A2F3F-C8F2-4863-AD1E-28CBD09B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38500"/>
            <a:ext cx="12192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10.0.34.0/30</a:t>
            </a:r>
          </a:p>
          <a:p xmlns:a="http://schemas.openxmlformats.org/drawingml/2006/main">
            <a:pPr algn="ctr">
              <a:defRPr sz="9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3 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97C23D-0443-4CB9-B974-A2B5AD16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353050"/>
            <a:ext cx="12192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10.0.35.0/30</a:t>
            </a:r>
          </a:p>
          <a:p xmlns:a="http://schemas.openxmlformats.org/drawingml/2006/main">
            <a:pPr algn="ctr">
              <a:defRPr sz="9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7 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84C699-106C-4C47-848C-8A599B38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90875"/>
            <a:ext cx="12192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10.0.45.0/30</a:t>
            </a:r>
          </a:p>
          <a:p xmlns:a="http://schemas.openxmlformats.org/drawingml/2006/main">
            <a:pPr algn="ctr">
              <a:defRPr sz="9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2 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AD361B-6CC8-4D7B-BC2C-94AA502C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B7B"/>
                </a:solidFill>
                <a:latin typeface="Aptos"/>
                <a:ea typeface="Aptos"/>
                <a:cs typeface="Aptos"/>
              </a:rPr>
              <a:t>R1 LAN</a:t>
            </a:r>
          </a:p>
          <a:p xmlns:a="http://schemas.openxmlformats.org/drawingml/2006/main">
            <a:pPr algn="ctr">
              <a:defRPr sz="900" b="1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B7B"/>
                </a:solidFill>
                <a:latin typeface="Aptos"/>
                <a:ea typeface="Aptos"/>
                <a:cs typeface="Aptos"/>
              </a:rPr>
              <a:t>10.10.1.0/24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538FE3-99F9-4659-9C4F-2A6DE088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000125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B7B"/>
                </a:solidFill>
                <a:latin typeface="Aptos"/>
                <a:ea typeface="Aptos"/>
                <a:cs typeface="Aptos"/>
              </a:rPr>
              <a:t>R2 LAN</a:t>
            </a:r>
          </a:p>
          <a:p xmlns:a="http://schemas.openxmlformats.org/drawingml/2006/main">
            <a:pPr algn="ctr">
              <a:defRPr sz="900" b="1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B7B"/>
                </a:solidFill>
                <a:latin typeface="Aptos"/>
                <a:ea typeface="Aptos"/>
                <a:cs typeface="Aptos"/>
              </a:rPr>
              <a:t>10.10.2.0/24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B70911-11A9-431F-BF78-B28FEB64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572125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B7B"/>
                </a:solidFill>
                <a:latin typeface="Aptos"/>
                <a:ea typeface="Aptos"/>
                <a:cs typeface="Aptos"/>
              </a:rPr>
              <a:t>R3 LAN</a:t>
            </a:r>
          </a:p>
          <a:p xmlns:a="http://schemas.openxmlformats.org/drawingml/2006/main">
            <a:pPr algn="ctr">
              <a:defRPr sz="900" b="1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B7B"/>
                </a:solidFill>
                <a:latin typeface="Aptos"/>
                <a:ea typeface="Aptos"/>
                <a:cs typeface="Aptos"/>
              </a:rPr>
              <a:t>10.10.3.0/24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103EAA-3673-48C6-96CC-19DEE6E3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000125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B7B"/>
                </a:solidFill>
                <a:latin typeface="Aptos"/>
                <a:ea typeface="Aptos"/>
                <a:cs typeface="Aptos"/>
              </a:rPr>
              <a:t>R4 LAN</a:t>
            </a:r>
          </a:p>
          <a:p xmlns:a="http://schemas.openxmlformats.org/drawingml/2006/main">
            <a:pPr algn="ctr">
              <a:defRPr sz="900" b="1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B7B"/>
                </a:solidFill>
                <a:latin typeface="Aptos"/>
                <a:ea typeface="Aptos"/>
                <a:cs typeface="Aptos"/>
              </a:rPr>
              <a:t>10.10.4.0/24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BE10D3-FD30-4F2F-8F3F-29DA431D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72125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B7B"/>
                </a:solidFill>
                <a:latin typeface="Aptos"/>
                <a:ea typeface="Aptos"/>
                <a:cs typeface="Aptos"/>
              </a:rPr>
              <a:t>R5 LAN</a:t>
            </a:r>
          </a:p>
          <a:p xmlns:a="http://schemas.openxmlformats.org/drawingml/2006/main">
            <a:pPr algn="ctr">
              <a:defRPr sz="900" b="1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B7B"/>
                </a:solidFill>
                <a:latin typeface="Aptos"/>
                <a:ea typeface="Aptos"/>
                <a:cs typeface="Aptos"/>
              </a:rPr>
              <a:t>10.10.5.0/24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5F6E8C-60B5-401A-93CF-8C83D142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19250"/>
            <a:ext cx="1809750" cy="419100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07182C"/>
          </a:solidFill>
          <a:ln xmlns:a="http://schemas.openxmlformats.org/drawingml/2006/main" w="0">
            <a:solidFill>
              <a:srgbClr val="07182C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8796FD-6F94-4639-B86D-D114DE6A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9526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B8C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B8C7"/>
                </a:solidFill>
                <a:latin typeface="Aptos"/>
                <a:ea typeface="Aptos"/>
                <a:cs typeface="Aptos"/>
              </a:rPr>
              <a:t>LEGENDA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F05C8A-88E1-4876-B0E9-5E4DC78C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2887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Rede /30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4EC0CC-07A9-4736-AD9B-3413C961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71462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E2"/>
                </a:solidFill>
                <a:latin typeface="Aptos"/>
                <a:ea typeface="Aptos"/>
                <a:cs typeface="Aptos"/>
              </a:rPr>
              <a:t>identifica o enlace ponto a ponto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897F51-8F86-4012-BF7A-E2CF11BB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4766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Atraso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638A7D-A1AE-484A-B935-3B684FEE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762375"/>
            <a:ext cx="133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E2"/>
                </a:solidFill>
                <a:latin typeface="Aptos"/>
                <a:ea typeface="Aptos"/>
                <a:cs typeface="Aptos"/>
              </a:rPr>
              <a:t>configurado nas duas extremidades com netem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321DBB-9DFA-4CAF-982B-0E4CD0A7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6196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Redundância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F5FADE-A53C-4382-9714-8FF72126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905375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80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E2"/>
                </a:solidFill>
                <a:latin typeface="Aptos"/>
                <a:ea typeface="Aptos"/>
                <a:cs typeface="Aptos"/>
              </a:rPr>
              <a:t>R1 alcança R5 por mais de uma sequência de roteadores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5DF7C6-88E0-4409-A834-C43A2E90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F881A5-AE2C-49EC-B771-31FF9CEA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209988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FCD660-E469-4CB4-84D1-AEC041BB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870AC-42E7-4A9A-8A02-233C313A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MÉTODO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B32C6-08AC-47E2-9597-4965BE64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Como os testes foram feitos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05F1F-C90B-4882-8FD9-CC67F85F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Cada solução foi ligada sozinha. Depois a rede foi testada e um enlace foi desligado.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DCE44-4D0B-4AFB-8E7F-97E9C5FB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9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0354B-40E8-4656-BA83-99611140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OSPF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5C344-B421-432D-BB34-803D716D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478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B8C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B8C7"/>
                </a:solidFill>
                <a:latin typeface="Aptos"/>
                <a:ea typeface="Aptos"/>
                <a:cs typeface="Aptos"/>
              </a:rPr>
              <a:t>Falha em R3-R4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8E7D7-C920-4428-B1D3-C4428DB7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4787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O FRRouting manteve a comunicação usando os caminhos disponíveis.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D28CF-60CB-40C7-B858-4D8039A0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9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85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435485-D36C-4996-88B3-3E7795C5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eBGP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18FE85-B775-4360-A882-B796F50A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908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Falha em R3-R5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D4352-433A-464E-B536-58A0B806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9087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A rota para a LAN 5 passou a chegar ao R5 pelo R4.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5FC61-C52E-4744-BADF-42FD59DA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9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B2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49244A-DE5F-4E20-B9AA-FB99C0C8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MC-Dijkstra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9A95CF-4190-46D3-8718-5397B34B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338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99B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99B2B"/>
                </a:solidFill>
                <a:latin typeface="Aptos"/>
                <a:ea typeface="Aptos"/>
                <a:cs typeface="Aptos"/>
              </a:rPr>
              <a:t>Falha em R1-R3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37ACBA-65C1-4101-BBEF-E2F0DB29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3387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O programa calculou outra rota, agora começando por R2.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0895E4-9ED5-40AD-89BA-020B7BBB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9334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EF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1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Os enlaces desligados foram diferentes. Por isso, os tempos mostram o que aconteceu em cada teste, mas não definem sozinhos qual solução é melhor.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C22563-D1D0-4DBE-BD12-2883ED0D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2F777C-5FAC-4D5C-A444-99F943ED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370604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42ACFA-1C1D-4A38-BB3C-C5DE92C8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EEFBD-190F-4590-A89B-1173145C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PROTOCOLO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F2D44-6140-4725-9E33-6FDDCD80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O que é OSPF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6E67D-940D-4742-940D-C64C17AF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OSPF é um protocolo usado para encontrar caminhos dentro de uma mesma rede ou organização.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3817F-1CBE-4FF2-85D7-7942C9AD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47675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07182C"/>
          </a:solidFill>
          <a:ln xmlns:a="http://schemas.openxmlformats.org/drawingml/2006/main" w="0">
            <a:solidFill>
              <a:srgbClr val="07182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96FAB-53BF-4E46-8877-B048FC8C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B8C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B8C7"/>
                </a:solidFill>
                <a:latin typeface="Aptos"/>
                <a:ea typeface="Aptos"/>
                <a:cs typeface="Aptos"/>
              </a:rPr>
              <a:t>Uma comparação simples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FE353-E2C8-40EA-97D7-13F81F49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361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Imagine que cada roteador possui um mapa das estradas. Quando uma estrada muda, os roteadores avisam uns aos outros e atualizam seus mapas.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7B386-F988-4BBA-9BAD-E6E6AA7B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Como escolhe a rota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0BAE66-9DD4-44E0-8B27-CCCD8CA2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05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06824-B49D-44EC-BE49-F9D0CFC7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19375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Conhece os vizinhos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CFAB03-D84D-4DE0-BD65-E7ECA4E0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95600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O roteador descobre quais roteadores estão ligados diretamente a ele.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5D347F-F5C2-4867-AA1E-98BC8F51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09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B2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184D68-97BF-4EFB-88B6-C5E1BEA9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24250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Monta um mapa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0DDCC5-AB78-47EC-9BF7-032AC094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00475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Os roteadores compartilham informações sobre os enlaces da rede.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8AD1E-73BC-4E5B-9668-E03BD974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148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9A8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56A75A-5859-44AF-A147-66021E78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29125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Escolhe o menor custo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951FCF-7C61-4ED8-A48B-7027DD1E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05350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O caminho com a menor soma de custos é instalado na tabela de rotas.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01F0D-D3F8-4B97-BA61-D93792D8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8E36DB-D3D1-454A-8FBD-897A6463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720044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09FA16-5039-4022-A2CC-69B60C3A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F2264-E40F-44D7-A9AD-831BDF91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PROTOCOLO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591CC-344E-4B73-B26B-00F8BB96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Como o OSPF funcionou no trabalho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682AD-CCAF-4D31-9F05-7C355D86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O FRRouting executou o OSPF nos cinco roteadores.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A0DCE-2357-41DB-B684-9B71C4FA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6B7B"/>
                </a:solidFill>
                <a:latin typeface="Aptos"/>
                <a:ea typeface="Aptos"/>
                <a:cs typeface="Aptos"/>
              </a:rPr>
              <a:t>R1 encontrou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1CCC9-1C86-40BB-B478-B231A577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B8C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B8C7"/>
                </a:solidFill>
                <a:latin typeface="Aptos"/>
                <a:ea typeface="Aptos"/>
                <a:cs typeface="Aptos"/>
              </a:rPr>
              <a:t>R2 e R3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17411-9C14-443C-A865-A87FFEEE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como vizinhos diretos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406DA-D51D-4C5E-B1B8-2858B857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9525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5B78D-DC14-47EB-9BE9-201C79D9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47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6B7B"/>
                </a:solidFill>
                <a:latin typeface="Aptos"/>
                <a:ea typeface="Aptos"/>
                <a:cs typeface="Aptos"/>
              </a:rPr>
              <a:t>R1 aprendeu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DA72F9-7A2B-449D-BCBF-401D0176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00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99B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E99B2B"/>
                </a:solidFill>
                <a:latin typeface="Aptos"/>
                <a:ea typeface="Aptos"/>
                <a:cs typeface="Aptos"/>
              </a:rPr>
              <a:t>12 rotas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BFC91-D378-4929-8E7A-10361A35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incluindo as LANs dos outros roteadores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018AA-33E2-476F-BDF7-87F78A2E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9525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DBC470-EBDF-412E-874A-761E56F6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47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6B7B"/>
                </a:solidFill>
                <a:latin typeface="Aptos"/>
                <a:ea typeface="Aptos"/>
                <a:cs typeface="Aptos"/>
              </a:rPr>
              <a:t>Durante a falha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3C5B1F-E382-4948-8B9E-A4D89F44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00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R3-R4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3104A-D78C-4A1E-AA7E-7B7E1B20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a comunicação entre R1 e R5 continuou funcionando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46282F-4802-4576-BEBB-1586B1CE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33875"/>
            <a:ext cx="8953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9E2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D1A2B"/>
                </a:solidFill>
                <a:latin typeface="Aptos"/>
                <a:ea typeface="Aptos"/>
                <a:cs typeface="Aptos"/>
              </a:rPr>
              <a:t>Na captura feita, R1 já alcançava a LAN 5 começando pelo R2. Por isso, a queda de R3-R4 não obrigou R1 a trocar o primeiro roteador do caminho.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D90B5F-0B2D-4486-B4EB-DF648705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7007F8-D228-478C-91EB-1774F652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013381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0A373-B87F-47F4-B8B6-2883AF24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39104-C8D2-4480-A55E-07BEB221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PROTOCOLO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E0C7C-B83B-432E-8638-22C8A4C9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O que é eBGP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91B85-9970-4FDC-9184-F17B2246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eBGP é usado para trocar informações de rota entre redes administradas separadamente.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C395D-3C66-4450-ABE9-52D201A8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476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7182C"/>
          </a:solidFill>
          <a:ln xmlns:a="http://schemas.openxmlformats.org/drawingml/2006/main" w="0">
            <a:solidFill>
              <a:srgbClr val="07182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BA5FA-009E-4169-B5D5-FC68FFF4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B8C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B8C7"/>
                </a:solidFill>
                <a:latin typeface="Aptos"/>
                <a:ea typeface="Aptos"/>
                <a:cs typeface="Aptos"/>
              </a:rPr>
              <a:t>O que significa AS?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465EA-C0B2-43EC-A3F3-A29CF0B1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09875"/>
            <a:ext cx="3619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Um Sistema Autônomo, ou AS, representa uma rede sob uma administração. Na Internet, empresas e provedores usam números de AS para se identificar.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FCB40-28EC-4258-B0A1-E96966AC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Como escolhe a rota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7E9211-EED5-4896-AFE7-50DB0F26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57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0816FD-D284-44EC-B350-79AF275D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71750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Anuncia redes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C216C5-B9F4-49E9-8CFE-A5C76500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47975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Cada roteador informa aos vizinhos quais redes consegue alcançar.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C63A0-8D4C-4522-973C-5B0DF76C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2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B2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1D02C9-13EA-4BE3-87F3-931CC81D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76625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Registra o caminho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2C0D91-C8A3-41A1-9894-73A98C89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52850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15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A rota guarda a lista dos AS atravessados. Isso também ajuda a evitar loops.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D496E5-039B-4D2B-BDE6-8AB1EB6E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62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9A8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D12BB2-1540-4188-8CFA-6CEFC13B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76750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Permite políticas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A0291E-9A84-4AB1-88EA-B8A66A4F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52975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O administrador pode escolher caminhos por regras, não apenas pela menor distância.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BB2E2B-BDC1-4793-BC18-43B5901D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B2B543-33A9-4ABD-845F-D178ABCE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320125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D8FDFB-5D48-4D50-B210-A19527D5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7608A-05F4-450D-B21D-AD7AA96B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PROTOCOLO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F12D6-2868-46E3-9814-AD5298BF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Como o eBGP funcionou no trabalho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E10BC-375B-4CC9-BB75-39139E59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Cada roteador recebeu um número de AS e anunciou sua própria LAN.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47767-F1A4-4B90-B52F-BC595583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R1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07C24-6C3E-4A2A-B352-ECA6D5A8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AS 65001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D688F-5E11-4A3D-8433-79CD845F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955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B8C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B8C7"/>
                </a:solidFill>
                <a:latin typeface="Aptos"/>
                <a:ea typeface="Aptos"/>
                <a:cs typeface="Aptos"/>
              </a:rPr>
              <a:t>2 vizinhos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1ED45-66EC-43DA-921F-4237F7A7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1937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R2 e R3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8082E-4AD0-41B1-8A99-79D40AD7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99B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99B2B"/>
                </a:solidFill>
                <a:latin typeface="Aptos"/>
                <a:ea typeface="Aptos"/>
                <a:cs typeface="Aptos"/>
              </a:rPr>
              <a:t>4 rotas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EC37B-9F1F-4779-A0AB-8EA3BFC3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1937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recebidas de cada vizinho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CBA726-C044-4EF0-9E33-F1252828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955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B9A8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B9A81"/>
                </a:solidFill>
                <a:latin typeface="Aptos"/>
                <a:ea typeface="Aptos"/>
                <a:cs typeface="Aptos"/>
              </a:rPr>
              <a:t>LAN 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BA963-968A-4B67-AA7C-0640F9D8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61937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inicialmente alcançada por R3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CD462-A4DF-409C-8EB4-06BD52BD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DCABE-C8A2-4533-8519-9559E6BA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Quando o enlace R3-R5 caiu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EFAA91-ED84-42CF-BB45-F980DFEC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o caminho alternativo chegou ao R5 pelo R4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E707B2-4530-4A2A-8E1D-DACEF001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262 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0A9A4F-3E29-4DBA-A0A8-4982273E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910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tempo observado até a comunicação responder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15E12F-D50F-40B1-9E74-DFF98B3E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29250"/>
            <a:ext cx="8953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EF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O resultado mostra a principal função do eBGP: retirar um caminho que deixou de existir e divulgar outra possibilidade.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E4D04B-6B7A-4FC6-9F6F-A8967180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B2B736-9C7C-4F88-9778-C66C08F0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202798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5425A3-6FDA-440B-AE7B-E4384BAC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ECD8B-E66B-4220-A6AF-CF918E0E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ALGORITMO PRÓPRIO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33E3E-EEAB-4F28-B15E-AC63FEBB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O que é MC-Dijkstra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ABC2A-1CBB-46D7-AF76-0B03A03B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MC-Dijkstra é o algoritmo criado para este trabalho. Ele não é um protocolo padrão como OSPF ou eBGP.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AC6F2-ACD7-4254-AB6D-9A2252E9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095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7182C"/>
          </a:solidFill>
          <a:ln xmlns:a="http://schemas.openxmlformats.org/drawingml/2006/main" w="0">
            <a:solidFill>
              <a:srgbClr val="07182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7B32E-D601-4DE3-8AD0-D0227FCB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86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99B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99B2B"/>
                </a:solidFill>
                <a:latin typeface="Aptos"/>
                <a:ea typeface="Aptos"/>
                <a:cs typeface="Aptos"/>
              </a:rPr>
              <a:t>Ideia principal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EEB49-DDAE-4F4E-8723-1408960E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09875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 programa dá uma nota para cada enlace. Depois soma as notas de cada caminho e escolhe aquele com o menor valor total.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96ACC-AD74-4525-8560-451F8E49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O que forma a nota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E82E6-00CD-48DA-A512-52BD10A7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57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6AD8B-54C0-4E9F-86C0-F479327A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71750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Atraso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5A364-E03C-4215-AC3F-006E1D1B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47975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Quanto maior o atraso, maior a nota do enlace.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F4D86-45AC-4679-AAF7-24DF648D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14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B2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EBE29A-4937-4B51-BDA3-6DF71460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Capacidade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7D7D3-1B0E-40DD-9077-FC70EBCE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05225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Uma capacidade menor aumenta a nota.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8D1AC-878B-43D3-ADE9-BCA05BF1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71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9A8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E6268B-C151-401E-A2D0-ABCEA9BA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286250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Confiabilidade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5AD97A-7B1A-4251-ADE0-0A64D5C7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62475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Um enlace menos confiável recebe uma penalidade maior.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650254-C335-4804-8BA2-E96CC3B5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72125"/>
            <a:ext cx="74295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BECD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53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nota = atraso + 100 / capacidade + 25 x (1 - confiabilidade)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F0FAA8-B8B6-47BD-968C-7F24FC9F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276C8F-D42F-4FB5-9923-3FC21727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043305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75CAE9-B494-4824-95BB-C31D0702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7F34F-F3C9-438B-A99C-FEF60C8B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ALGORITMO PRÓPRIO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94EB8-3544-4201-B63A-8B227B05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Como o MC-Dijkstra funcionou no trabalho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E9F08-9171-416B-ABDA-AE87B1E1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O programa calculou as rotas e colocou o resultado diretamente na tabela de cada roteador.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D6425-9A71-4813-9121-E07BC34B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B6B7B"/>
                </a:solidFill>
                <a:latin typeface="Aptos"/>
                <a:ea typeface="Aptos"/>
                <a:cs typeface="Aptos"/>
              </a:rPr>
              <a:t>Antes da falha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80A5E-D222-43ED-9EBA-364F082D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19375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9A81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B9A81"/>
                </a:solidFill>
                <a:latin typeface="Aptos"/>
                <a:ea typeface="Aptos"/>
                <a:cs typeface="Aptos"/>
              </a:rPr>
              <a:t>R1 - R3 - R4 - R5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BF1A4-7E86-4A27-B1DB-0FA4C6D8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nota total 15,50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769FC-E82B-4E6D-A5B6-CB66710F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19375"/>
            <a:ext cx="904875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7DE"/>
          </a:solidFill>
          <a:ln xmlns:a="http://schemas.openxmlformats.org/drawingml/2006/main" w="0">
            <a:solidFill>
              <a:srgbClr val="CFD7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04518-1940-4119-A633-007713B0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R1-R3 caiu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04401-E630-4282-8F43-1FC80ED1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R1 - R2 - R4 - R5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695DF-42E5-42AA-9D28-B00C8F4A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nota total 16,00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BFC7DB-D826-4CCE-BF04-86A23AFE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FD6117-B0A7-420A-A0DD-CE82F8FA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O que o programa fez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96B2A-5D7E-481D-BD06-E0740304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7267C4-1786-4FA7-9D28-AA50E13C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Removeu a rota antiga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86817B-DE3F-4C01-BAB7-E91C8C1A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33975"/>
            <a:ext cx="451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Isso evita que o sistema continue tentando usar o enlace que caiu.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A16206-D97C-41DE-8A0D-93556AD5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43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B2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963E68-5788-42C6-9120-53FF9339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5775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Instalou a nova rota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3405D-7136-470C-9209-A9D5DBDE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33975"/>
            <a:ext cx="451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Foram instaladas 20 rotas em todos os roteadores.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521C7A-F741-4013-A598-E4B4721D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90550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61,471 ms para recalcular e instalar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6304BD-25A5-4C14-9A1B-1D93622F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320B46-6AB8-4096-91C0-59D43E8E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456030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3B645-103E-4FDD-AAF5-ED8B00FC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43482-8000-4323-8E61-38780F31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AVALIAÇÃO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9A10C-BA72-476B-B901-EF2F7114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O que foi medido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1047750" y="1714500"/>
          <a:ext xmlns:a="http://schemas.openxmlformats.org/drawingml/2006/main" cx="10096500" cy="3571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71750"/>
                <a:gridCol w="4762500"/>
                <a:gridCol w="2762250"/>
              </a:tblGrid>
              <a:tr h="59531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Medição</a:t>
                      </a:r>
                    </a:p>
                  </a:txBody>
                  <a:tcPr marL="91440" marR="91440" marT="45720" marB="45720" anchor="ctr">
                    <a:solidFill>
                      <a:srgbClr val="07182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Pergunta respondida</a:t>
                      </a:r>
                    </a:p>
                  </a:txBody>
                  <a:tcPr marL="91440" marR="91440" marT="45720" marB="45720" anchor="ctr">
                    <a:solidFill>
                      <a:srgbClr val="07182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Ferramenta</a:t>
                      </a:r>
                    </a:p>
                  </a:txBody>
                  <a:tcPr marL="91440" marR="91440" marT="45720" marB="45720" anchor="ctr">
                    <a:solidFill>
                      <a:srgbClr val="07182C"/>
                    </a:solidFill>
                  </a:tcPr>
                </a:tc>
              </a:tr>
              <a:tr h="59531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Quantidade de rotas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Quantos caminhos aparecem em R1?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ip route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Pacotes de controle</a:t>
                      </a:r>
                    </a:p>
                  </a:txBody>
                  <a:tcPr marL="91440" marR="91440" marT="45720" marB="45720" anchor="ctr">
                    <a:solidFill>
                      <a:srgbClr val="DFEFF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Quanto os roteadores conversam entre si?</a:t>
                      </a:r>
                    </a:p>
                  </a:txBody>
                  <a:tcPr marL="91440" marR="91440" marT="45720" marB="45720" anchor="ctr">
                    <a:solidFill>
                      <a:srgbClr val="DFEFF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tcpdump por 6 segundos</a:t>
                      </a:r>
                    </a:p>
                  </a:txBody>
                  <a:tcPr marL="91440" marR="91440" marT="45720" marB="45720" anchor="ctr">
                    <a:solidFill>
                      <a:srgbClr val="DFEFF4"/>
                    </a:solidFill>
                  </a:tcPr>
                </a:tc>
              </a:tr>
              <a:tr h="59531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Tempo de resposta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Quanto tempo um ping leva entre R1 e R5?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ping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Vazão</a:t>
                      </a:r>
                    </a:p>
                  </a:txBody>
                  <a:tcPr marL="91440" marR="91440" marT="45720" marB="45720" anchor="ctr">
                    <a:solidFill>
                      <a:srgbClr val="DFEFF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Quantos dados passam entre R1 e R5?</a:t>
                      </a:r>
                    </a:p>
                  </a:txBody>
                  <a:tcPr marL="91440" marR="91440" marT="45720" marB="45720" anchor="ctr">
                    <a:solidFill>
                      <a:srgbClr val="DFEFF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iperf3 por 3 segundos</a:t>
                      </a:r>
                    </a:p>
                  </a:txBody>
                  <a:tcPr marL="91440" marR="91440" marT="45720" marB="45720" anchor="ctr">
                    <a:solidFill>
                      <a:srgbClr val="DFEFF4"/>
                    </a:solidFill>
                  </a:tcPr>
                </a:tc>
              </a:tr>
              <a:tr h="59531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Recuperação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Quanto tempo a comunicação leva para voltar?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falha seguida de pings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F75851-9443-4A16-89F0-27DEBBD7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67375"/>
            <a:ext cx="8763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BECD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A vazão ficou acima de 1 Gb/s porque os enlaces são virtuais e não receberam um limite físico de 100 Mb/s.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19EB5-A61E-4608-B5F1-6388E14F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0BA0E-EFC6-4BC9-A37D-8024FF3C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746154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77049-1A7C-492A-847A-C84B52B8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A75F9-428D-4DD5-86B9-41D37B34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RESULTADOS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DCD15-BA4D-492F-80AD-7BECF8F6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Plano de controle e tamanho da tabela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EC187-6BFE-45AC-BDDA-357601A6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As capturas ocorreram na interface r1r3 durante 6 segundos.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338137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92f210ad0f41ed"/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333875" y="1762125"/>
          <a:ext xmlns:a="http://schemas.openxmlformats.org/drawingml/2006/main" cx="338137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c722b5ebe74ee4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8048625" y="1762125"/>
          <a:ext xmlns:a="http://schemas.openxmlformats.org/drawingml/2006/main" cx="338137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62e3f7e89b48c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B6488-F476-48A1-A618-243946AA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953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DFF4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MC-Dijkstra aparece com zero porque ele não troca mensagens de protocolo. Um único programa calcula e instala as rotas.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5756C9-D241-4914-A6C5-DB0C1382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F7F85B-1C81-42AB-B835-4F611538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013387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100D6-9FE5-43C7-9A98-DE1547D0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402A2-72EC-44AE-89D9-E312C760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RESULTADOS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184ED-421D-4870-BACA-B4E0CD74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Desempenho observado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75A03-327F-4A5F-8FD6-B75EF557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RTT e vazão usam o fluxo entre 10.10.1.1 e 10.10.5.1. A falha R3-R5 foi repetida três vezes em cada solução.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19125" y="1714500"/>
          <a:ext xmlns:a="http://schemas.openxmlformats.org/drawingml/2006/main" cx="3381375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746491aec54ca6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333875" y="1714500"/>
          <a:ext xmlns:a="http://schemas.openxmlformats.org/drawingml/2006/main" cx="3381375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6a84120ca04bd3"/>
          </a:graphicData>
        </a:graphic>
      </p:graphicFrame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8048625" y="1714500"/>
          <a:ext xmlns:a="http://schemas.openxmlformats.org/drawingml/2006/main" cx="3381375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0c0c6901d24e7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7F1FB-1CEA-4644-BF92-7036D227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762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85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CDD64-5955-4326-9D1E-0E9018E9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Na falha R3-R5, OSPF e MC-Dijkstra já evitavam esse enlace. O eBGP usava o enlace e precisou mudar a rota. Todos mantiveram ou recuperaram a comunicação nas três repetições.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B95BD-D9E4-407A-9327-FFE127D4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5EA2D-C442-4B2F-81CA-57F298AA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381060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5A7B2-4E5B-43AE-B6E3-7999AC71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078AC-8624-4CF6-A465-BE61448A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DISCUSSÃO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2D043-DFBC-4B80-9ECD-CC092A79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Comparação simples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10875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3000375"/>
                <a:gridCol w="3000375"/>
                <a:gridCol w="3000375"/>
              </a:tblGrid>
              <a:tr h="7429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Pergunta</a:t>
                      </a:r>
                    </a:p>
                  </a:txBody>
                  <a:tcPr marL="91440" marR="91440" marT="45720" marB="45720" anchor="ctr">
                    <a:solidFill>
                      <a:srgbClr val="07182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OSPF</a:t>
                      </a:r>
                    </a:p>
                  </a:txBody>
                  <a:tcPr marL="91440" marR="91440" marT="45720" marB="45720" anchor="ctr">
                    <a:solidFill>
                      <a:srgbClr val="07182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eBGP</a:t>
                      </a:r>
                    </a:p>
                  </a:txBody>
                  <a:tcPr marL="91440" marR="91440" marT="45720" marB="45720" anchor="ctr">
                    <a:solidFill>
                      <a:srgbClr val="07182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MC-Dijkstra</a:t>
                      </a:r>
                    </a:p>
                  </a:txBody>
                  <a:tcPr marL="91440" marR="91440" marT="45720" marB="45720" anchor="ctr">
                    <a:solidFill>
                      <a:srgbClr val="07182C"/>
                    </a:solidFill>
                  </a:tcPr>
                </a:tc>
              </a:tr>
              <a:tr h="7429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Como pensa?</a:t>
                      </a:r>
                    </a:p>
                  </a:txBody>
                  <a:tcPr marL="91440" marR="91440" marT="45720" marB="45720" anchor="ctr">
                    <a:solidFill>
                      <a:srgbClr val="DFF4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Mantém um mapa da rede</a:t>
                      </a:r>
                    </a:p>
                  </a:txBody>
                  <a:tcPr marL="91440" marR="91440" marT="45720" marB="45720" anchor="ctr">
                    <a:solidFill>
                      <a:srgbClr val="DFF4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Troca caminhos entre redes diferentes</a:t>
                      </a:r>
                    </a:p>
                  </a:txBody>
                  <a:tcPr marL="91440" marR="91440" marT="45720" marB="45720" anchor="ctr">
                    <a:solidFill>
                      <a:srgbClr val="DFF4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Dá uma nota para cada enlace</a:t>
                      </a:r>
                    </a:p>
                  </a:txBody>
                  <a:tcPr marL="91440" marR="91440" marT="45720" marB="45720" anchor="ctr">
                    <a:solidFill>
                      <a:srgbClr val="DFF4F5"/>
                    </a:solidFill>
                  </a:tcPr>
                </a:tc>
              </a:tr>
              <a:tr h="7429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Ponto forte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Adaptação automática dentro da rede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Permite regras entre redes e provedores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Usa critérios escolhidos pelo projeto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Limitação</a:t>
                      </a:r>
                    </a:p>
                  </a:txBody>
                  <a:tcPr marL="91440" marR="91440" marT="45720" marB="45720" anchor="ctr">
                    <a:solidFill>
                      <a:srgbClr val="FBECD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Todos trocam informações sobre a topologia</a:t>
                      </a:r>
                    </a:p>
                  </a:txBody>
                  <a:tcPr marL="91440" marR="91440" marT="45720" marB="45720" anchor="ctr">
                    <a:solidFill>
                      <a:srgbClr val="FBECD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Configuração mais trabalhosa</a:t>
                      </a:r>
                    </a:p>
                  </a:txBody>
                  <a:tcPr marL="91440" marR="91440" marT="45720" marB="45720" anchor="ctr">
                    <a:solidFill>
                      <a:srgbClr val="FBECD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Depende do programa central</a:t>
                      </a:r>
                    </a:p>
                  </a:txBody>
                  <a:tcPr marL="91440" marR="91440" marT="45720" marB="45720" anchor="ctr">
                    <a:solidFill>
                      <a:srgbClr val="FBECD4"/>
                    </a:solidFill>
                  </a:tcPr>
                </a:tc>
              </a:tr>
              <a:tr h="7429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Melhor uso</a:t>
                      </a:r>
                    </a:p>
                  </a:txBody>
                  <a:tcPr marL="91440" marR="91440" marT="45720" marB="45720" anchor="ctr">
                    <a:solidFill>
                      <a:srgbClr val="DDEFE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Rede interna de uma organização</a:t>
                      </a:r>
                    </a:p>
                  </a:txBody>
                  <a:tcPr marL="91440" marR="91440" marT="45720" marB="45720" anchor="ctr">
                    <a:solidFill>
                      <a:srgbClr val="DDEFE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Ligação entre organizações ou provedores</a:t>
                      </a:r>
                    </a:p>
                  </a:txBody>
                  <a:tcPr marL="91440" marR="91440" marT="45720" marB="45720" anchor="ctr">
                    <a:solidFill>
                      <a:srgbClr val="DDEFE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Rede com necessidades específicas</a:t>
                      </a:r>
                    </a:p>
                  </a:txBody>
                  <a:tcPr marL="91440" marR="91440" marT="45720" marB="45720" anchor="ctr">
                    <a:solidFill>
                      <a:srgbClr val="DDEFE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97F5C-F4D0-47E3-9001-EE924815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Nenhuma solução é melhor em tudo. A escolha depende do tipo de rede e do objetivo do administrador.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4364A-0B02-4C97-96EB-B70661B5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D6793-9585-405F-8B79-090CAC51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786478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8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F8D894-9386-4499-8D8A-3B08B16A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11496-C2D2-41E3-85A3-B86FBD15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B8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B8C7"/>
                </a:solidFill>
                <a:latin typeface="Aptos"/>
                <a:ea typeface="Aptos"/>
                <a:cs typeface="Aptos"/>
              </a:rPr>
              <a:t>SÍNTESE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0F16B-63DD-4514-B573-ADD7BDE5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Conclusão: OSPF foi a melhor opção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9A439-B94C-4DD8-81F0-A11FF27D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3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9D5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9D5E2"/>
                </a:solidFill>
                <a:latin typeface="Aptos"/>
                <a:ea typeface="Aptos"/>
                <a:cs typeface="Aptos"/>
              </a:rPr>
              <a:t>O OSPF reuniu a resposta mais rápida no teste controlado, adaptação automática e o melhor desempenho geral nesta rede interna.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6D23A-5B97-402F-8F2E-993761B8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9B9BE-034A-40B3-8A1C-03E0B899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0250"/>
            <a:ext cx="1003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Mesma falha, três repetições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B464C-6015-45DC-B72B-95B067B6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76475"/>
            <a:ext cx="1003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4D1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4D1DF"/>
                </a:solidFill>
                <a:latin typeface="Aptos"/>
                <a:ea typeface="Aptos"/>
                <a:cs typeface="Aptos"/>
              </a:rPr>
              <a:t>Na queda R3-R5, a resposta média foi 29 ms no OSPF, 184 ms no MC-Dijkstra e 1.212 ms no eBGP.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7B5EF-67A8-4F9F-BA4D-E3A46D5E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85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AD9AE-903B-41C7-A24E-EE2EE4D5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1003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Melhor resultado geral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26CBE0-714E-4297-8F1D-E41BA0E8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33725"/>
            <a:ext cx="1003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4D1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4D1DF"/>
                </a:solidFill>
                <a:latin typeface="Aptos"/>
                <a:ea typeface="Aptos"/>
                <a:cs typeface="Aptos"/>
              </a:rPr>
              <a:t>O OSPF também teve o menor RTT, 19,919 ms, e a maior vazão, 1.518,9 Mb/s.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08902-C612-4B59-8BD6-1317A311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B2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26EDE5-5E8B-4DFD-925C-5B518A04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1003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Por que o OSPF venceu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544C15-AFC1-4114-A212-B12B60AB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90975"/>
            <a:ext cx="1003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4D1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4D1DF"/>
                </a:solidFill>
                <a:latin typeface="Aptos"/>
                <a:ea typeface="Aptos"/>
                <a:cs typeface="Aptos"/>
              </a:rPr>
              <a:t>Ele escolheu um caminho que já evitava o enlace testado e ajusta rotas automaticamente, sem um programa central.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6E9021-4242-448F-B24A-B708D2E9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9A8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AC520C-3A51-44F4-861B-6EE7C8DE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0"/>
            <a:ext cx="1003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Teste seguro e repetível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7817E3-89BF-4B0D-ADFF-1DFB2059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48225"/>
            <a:ext cx="1003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4D1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4D1DF"/>
                </a:solidFill>
                <a:latin typeface="Aptos"/>
                <a:ea typeface="Aptos"/>
                <a:cs typeface="Aptos"/>
              </a:rPr>
              <a:t>A VM isolou o laboratório. O mesmo script recria a topologia, aplica R3-R5 e salva as evidências.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0963F1-086C-4006-9C82-96D5D473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62625"/>
            <a:ext cx="99060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102A4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Todos funcionaram. Para esta rede interna, o OSPF apresentou a melhor combinação de rapidez, automação e estabilidade.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0922EA-C610-4DB7-812C-0FBDE724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06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CD0D81-5FAE-4BD2-9654-9415FF79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5B8C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B8C7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976282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2026-10-01T20:20:08.5920000Z</dcterms:created>
  <dcterms:modified xsi:type="dcterms:W3CDTF">2026-10-01T20:20:08.5920000Z</dcterms:modified>
</coreProperties>
</file>