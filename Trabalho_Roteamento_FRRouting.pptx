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fd74c1e6054d36" /><Relationship Type="http://schemas.openxmlformats.org/officeDocument/2006/relationships/extended-properties" Target="/docProps/app.xml" Id="R5ce97e9b1d574e27" /><Relationship Type="http://schemas.openxmlformats.org/officeDocument/2006/relationships/officeDocument" Target="/ppt/presentation.xml" Id="R6fa2c6036d06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af7a5737541c8"/>
  </p:sldMasterIdLst>
  <p:notesMasterIdLst>
    <p:notesMasterId xmlns:r="http://schemas.openxmlformats.org/officeDocument/2006/relationships" r:id="R9255e914db43452f"/>
  </p:notesMasterIdLst>
  <p:sldIdLst>
    <p:sldId xmlns:r="http://schemas.openxmlformats.org/officeDocument/2006/relationships" id="256" r:id="R196f749c1b274888"/>
    <p:sldId xmlns:r="http://schemas.openxmlformats.org/officeDocument/2006/relationships" id="257" r:id="R45383456be70417f"/>
    <p:sldId xmlns:r="http://schemas.openxmlformats.org/officeDocument/2006/relationships" id="258" r:id="Ra3296af1ba2344ca"/>
    <p:sldId xmlns:r="http://schemas.openxmlformats.org/officeDocument/2006/relationships" id="259" r:id="Rc95803f602a54b16"/>
    <p:sldId xmlns:r="http://schemas.openxmlformats.org/officeDocument/2006/relationships" id="260" r:id="Rbf8dc939b97c4408"/>
    <p:sldId xmlns:r="http://schemas.openxmlformats.org/officeDocument/2006/relationships" id="261" r:id="Rba0255af6788451c"/>
    <p:sldId xmlns:r="http://schemas.openxmlformats.org/officeDocument/2006/relationships" id="262" r:id="Rd5ddf493fd35455e"/>
    <p:sldId xmlns:r="http://schemas.openxmlformats.org/officeDocument/2006/relationships" id="263" r:id="Rb6869e6ee4154a1a"/>
    <p:sldId xmlns:r="http://schemas.openxmlformats.org/officeDocument/2006/relationships" id="264" r:id="Rc5cc56c61a90428d"/>
    <p:sldId xmlns:r="http://schemas.openxmlformats.org/officeDocument/2006/relationships" id="265" r:id="R168f6bec662f452b"/>
    <p:sldId xmlns:r="http://schemas.openxmlformats.org/officeDocument/2006/relationships" id="266" r:id="Ra1e2513b10054aa3"/>
    <p:sldId xmlns:r="http://schemas.openxmlformats.org/officeDocument/2006/relationships" id="267" r:id="R72e59e3b2b394edb"/>
    <p:sldId xmlns:r="http://schemas.openxmlformats.org/officeDocument/2006/relationships" id="268" r:id="Rf8bc89a8359f45ed"/>
    <p:sldId xmlns:r="http://schemas.openxmlformats.org/officeDocument/2006/relationships" id="269" r:id="Rcdfd8131f0f74c84"/>
    <p:sldId xmlns:r="http://schemas.openxmlformats.org/officeDocument/2006/relationships" id="270" r:id="Rffcc03e2addd4f8b"/>
    <p:sldId xmlns:r="http://schemas.openxmlformats.org/officeDocument/2006/relationships" id="271" r:id="Rb3dce720da27457e"/>
    <p:sldId xmlns:r="http://schemas.openxmlformats.org/officeDocument/2006/relationships" id="272" r:id="R945948dd83df43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a99143c984f3a" /><Relationship Type="http://schemas.openxmlformats.org/officeDocument/2006/relationships/slideMaster" Target="/ppt/slideMasters/slideMaster1.xml" Id="Rca6af7a5737541c8" /><Relationship Type="http://schemas.openxmlformats.org/officeDocument/2006/relationships/notesMaster" Target="/ppt/notesMasters/notesMaster1.xml" Id="R9255e914db43452f" /><Relationship Type="http://schemas.openxmlformats.org/officeDocument/2006/relationships/presProps" Target="/ppt/presProps.xml" Id="Rb4e0c19bbff3493b" /><Relationship Type="http://schemas.openxmlformats.org/officeDocument/2006/relationships/tableStyles" Target="/ppt/tableStyles.xml" Id="Rca84641b4d6d4dc1" /><Relationship Type="http://schemas.openxmlformats.org/officeDocument/2006/relationships/slide" Target="/ppt/slides/slide1.xml" Id="R196f749c1b274888" /><Relationship Type="http://schemas.openxmlformats.org/officeDocument/2006/relationships/slide" Target="/ppt/slides/slide2.xml" Id="R45383456be70417f" /><Relationship Type="http://schemas.openxmlformats.org/officeDocument/2006/relationships/slide" Target="/ppt/slides/slide3.xml" Id="Ra3296af1ba2344ca" /><Relationship Type="http://schemas.openxmlformats.org/officeDocument/2006/relationships/slide" Target="/ppt/slides/slide4.xml" Id="Rc95803f602a54b16" /><Relationship Type="http://schemas.openxmlformats.org/officeDocument/2006/relationships/slide" Target="/ppt/slides/slide5.xml" Id="Rbf8dc939b97c4408" /><Relationship Type="http://schemas.openxmlformats.org/officeDocument/2006/relationships/slide" Target="/ppt/slides/slide6.xml" Id="Rba0255af6788451c" /><Relationship Type="http://schemas.openxmlformats.org/officeDocument/2006/relationships/slide" Target="/ppt/slides/slide7.xml" Id="Rd5ddf493fd35455e" /><Relationship Type="http://schemas.openxmlformats.org/officeDocument/2006/relationships/slide" Target="/ppt/slides/slide8.xml" Id="Rb6869e6ee4154a1a" /><Relationship Type="http://schemas.openxmlformats.org/officeDocument/2006/relationships/slide" Target="/ppt/slides/slide9.xml" Id="Rc5cc56c61a90428d" /><Relationship Type="http://schemas.openxmlformats.org/officeDocument/2006/relationships/slide" Target="/ppt/slides/slide10.xml" Id="R168f6bec662f452b" /><Relationship Type="http://schemas.openxmlformats.org/officeDocument/2006/relationships/slide" Target="/ppt/slides/slide11.xml" Id="Ra1e2513b10054aa3" /><Relationship Type="http://schemas.openxmlformats.org/officeDocument/2006/relationships/slide" Target="/ppt/slides/slide12.xml" Id="R72e59e3b2b394edb" /><Relationship Type="http://schemas.openxmlformats.org/officeDocument/2006/relationships/slide" Target="/ppt/slides/slide13.xml" Id="Rf8bc89a8359f45ed" /><Relationship Type="http://schemas.openxmlformats.org/officeDocument/2006/relationships/slide" Target="/ppt/slides/slide14.xml" Id="Rcdfd8131f0f74c84" /><Relationship Type="http://schemas.openxmlformats.org/officeDocument/2006/relationships/slide" Target="/ppt/slides/slide15.xml" Id="Rffcc03e2addd4f8b" /><Relationship Type="http://schemas.openxmlformats.org/officeDocument/2006/relationships/slide" Target="/ppt/slides/slide16.xml" Id="Rb3dce720da27457e" /><Relationship Type="http://schemas.openxmlformats.org/officeDocument/2006/relationships/slide" Target="/ppt/slides/slide17.xml" Id="R945948dd83df43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77b07ba45f4c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9a35abfdd45dd" /><Relationship Type="http://schemas.openxmlformats.org/officeDocument/2006/relationships/notesMaster" Target="/ppt/notesMasters/notesMaster1.xml" Id="Rdf622238d5e942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43a06ef72d4d7e" /><Relationship Type="http://schemas.openxmlformats.org/officeDocument/2006/relationships/notesMaster" Target="/ppt/notesMasters/notesMaster1.xml" Id="R5a084a50859947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0ffb62ac4e4a1b" /><Relationship Type="http://schemas.openxmlformats.org/officeDocument/2006/relationships/notesMaster" Target="/ppt/notesMasters/notesMaster1.xml" Id="R366c6bd076d347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d77f805f704816" /><Relationship Type="http://schemas.openxmlformats.org/officeDocument/2006/relationships/notesMaster" Target="/ppt/notesMasters/notesMaster1.xml" Id="R5d39ea2a66d4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30a858b2b74b31" /><Relationship Type="http://schemas.openxmlformats.org/officeDocument/2006/relationships/notesMaster" Target="/ppt/notesMasters/notesMaster1.xml" Id="R3d15a98ec5004c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ad09cbe5a34f1d" /><Relationship Type="http://schemas.openxmlformats.org/officeDocument/2006/relationships/notesMaster" Target="/ppt/notesMasters/notesMaster1.xml" Id="R4bd543e935c44f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9768ca1c84b20" /><Relationship Type="http://schemas.openxmlformats.org/officeDocument/2006/relationships/notesMaster" Target="/ppt/notesMasters/notesMaster1.xml" Id="Ra04dbdc9ea3546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03be531c2d47b8" /><Relationship Type="http://schemas.openxmlformats.org/officeDocument/2006/relationships/notesMaster" Target="/ppt/notesMasters/notesMaster1.xml" Id="R59e7fdf66f404c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934a03bdd34792" /><Relationship Type="http://schemas.openxmlformats.org/officeDocument/2006/relationships/notesMaster" Target="/ppt/notesMasters/notesMaster1.xml" Id="R86e181b6ef154a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d875818e84b91" /><Relationship Type="http://schemas.openxmlformats.org/officeDocument/2006/relationships/notesMaster" Target="/ppt/notesMasters/notesMaster1.xml" Id="R2b4eb0bf532a43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09d76af67c4108" /><Relationship Type="http://schemas.openxmlformats.org/officeDocument/2006/relationships/notesMaster" Target="/ppt/notesMasters/notesMaster1.xml" Id="R4162f45318474f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c990af2c7f4980" /><Relationship Type="http://schemas.openxmlformats.org/officeDocument/2006/relationships/notesMaster" Target="/ppt/notesMasters/notesMaster1.xml" Id="R33e1a61fd4ac4a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3879984fc14817" /><Relationship Type="http://schemas.openxmlformats.org/officeDocument/2006/relationships/notesMaster" Target="/ppt/notesMasters/notesMaster1.xml" Id="R45bc926356764d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f969bdfe2445ed" /><Relationship Type="http://schemas.openxmlformats.org/officeDocument/2006/relationships/notesMaster" Target="/ppt/notesMasters/notesMaster1.xml" Id="Rbb21e4f2c8c7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4df037cd784a1e" /><Relationship Type="http://schemas.openxmlformats.org/officeDocument/2006/relationships/notesMaster" Target="/ppt/notesMasters/notesMaster1.xml" Id="Rfec1e7f7f38a4d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91547df6314583" /><Relationship Type="http://schemas.openxmlformats.org/officeDocument/2006/relationships/notesMaster" Target="/ppt/notesMasters/notesMaster1.xml" Id="Rdcbcd057b371499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fc217ada8d4d09" /><Relationship Type="http://schemas.openxmlformats.org/officeDocument/2006/relationships/notesMaster" Target="/ppt/notesMasters/notesMaster1.xml" Id="Ra8615dae8e7740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tema. O laboratório compara dois protocolos e um algoritmo próprio na mesma topologia de cinco roteadores. Fonte: scripts e resultados do projeto local.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objetivo e ressalte que as três soluções foram testadas separadamente, como exigido. Fonte: enunciado e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pilha de implementação. FRRouting foi instalado no Ubuntu e os roteadores foram isolados com namespaces Linux. Fonte: README.md e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a implementação física virtual da topologia lógica. Cada namespace tem interfaces próprias, tabela de rotas própria e instâncias separadas do FRR.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os sete enlaces exatamente como criados pelo script: R1-R2, R1-R3, R2-R3, R2-R4, R3-R4, R3-R5 e R4-R5. Fonte: setup_topology em lab_setup_and_run.sh.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laboratório foi recriado antes de cada teste. As soluções nunca rodaram ao mesmo tempo.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OSPF como um mapa compartilhado. Ele funciona bem dentro de uma rede administrada pela mesma organização.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OSPF funcionou, formou vizinhanças e aprendeu as redes. Explique com simplicidade a limitação do enlace escolhido para a falha.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eBGP como a troca de destinos entre redes diferentes. No trabalho, cada roteador recebeu um número de AS próprio.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R1 falava diretamente com R2 e R3. Após a queda entre R3 e R5, o acesso à LAN 5 continuou por R4.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MC significa múltiplos critérios. Dijkstra encontra o caminho com a menor soma das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a troca de caminho. A rota inicial usava R3. Quando R1-R3 caiu, o programa passou a usar R2.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as métricas sem entrar nos comandos. A ideia é mostrar rotas, conversa de controle, atraso, vazão e reação à falha.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pacotes, taxa derivada de controle e tamanho da tabela. Não interprete zero pacotes como custo total zero, pois o algoritmo ainda consome processamento no controlador.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os resultados originais. RTT e vazão foram medidos no mesmo fluxo. Os tempos de recuperação vieram de falhas diferentes e, por isso, servem como registro dos testes, não como uma comparação direta.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tabela para resumir as diferenças em linguagem simples. Cada solução foi criada para uma necessidade diferente.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esta comparação aconteceu depois dos testes mostrados nos slides anteriores. A mesma falha R3-R5 foi repetida três vezes nas três soluções. O OSPF teve média de 29 ms, o MC-Dijkstra 184 ms e o eBGP 1.212 ms até o primeiro ping confirmado. OSPF e MC-Dijkstra já evitavam o enlace, enquanto o eBGP mudou a rota em R3. Para esta topologia e esta falha, o OSPF foi a melhor opção. O script permite repetir o teste.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25d97b80b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c0af1b4dfc48f7" /><Relationship Type="http://schemas.openxmlformats.org/officeDocument/2006/relationships/slideLayout" Target="/ppt/slideLayouts/slideLayout1.xml" Id="R77a8e9c25a0d40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8e9c25a0d40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059eafdc846e1" /><Relationship Type="http://schemas.openxmlformats.org/officeDocument/2006/relationships/notesSlide" Target="/ppt/notesSlides/notesSlide1.xml" Id="Ref0deb0cfdf04f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cb58b0994ce9" /><Relationship Type="http://schemas.openxmlformats.org/officeDocument/2006/relationships/notesSlide" Target="/ppt/notesSlides/notesSlide2.xml" Id="R89c76e52b6cd40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80771bd0e4098" /><Relationship Type="http://schemas.openxmlformats.org/officeDocument/2006/relationships/notesSlide" Target="/ppt/notesSlides/notesSlide3.xml" Id="Re9810f697372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2dfbb3b0642e3" /><Relationship Type="http://schemas.openxmlformats.org/officeDocument/2006/relationships/notesSlide" Target="/ppt/notesSlides/notesSlide4.xml" Id="Rbfe5a05df2924e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0a1e45d8f4521" /><Relationship Type="http://schemas.openxmlformats.org/officeDocument/2006/relationships/notesSlide" Target="/ppt/notesSlides/notesSlide5.xml" Id="Rf9875b58772d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30e4e9e254ba8" /><Relationship Type="http://schemas.openxmlformats.org/officeDocument/2006/relationships/notesSlide" Target="/ppt/notesSlides/notesSlide6.xml" Id="R0e1a3f8b726e41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14c039f964075" /><Relationship Type="http://schemas.openxmlformats.org/officeDocument/2006/relationships/notesSlide" Target="/ppt/notesSlides/notesSlide7.xml" Id="Rf55937f4d5094e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288843c34456" /><Relationship Type="http://schemas.openxmlformats.org/officeDocument/2006/relationships/notesSlide" Target="/ppt/notesSlides/notesSlide8.xml" Id="Ra38a22d22e4841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856f051db492a" /><Relationship Type="http://schemas.openxmlformats.org/officeDocument/2006/relationships/notesSlide" Target="/ppt/notesSlides/notesSlide9.xml" Id="R1fcb4d6a815143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988535b024155" /><Relationship Type="http://schemas.openxmlformats.org/officeDocument/2006/relationships/notesSlide" Target="/ppt/notesSlides/notesSlide10.xml" Id="R924cc92c709f45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e9cbf5594cff" /><Relationship Type="http://schemas.openxmlformats.org/officeDocument/2006/relationships/notesSlide" Target="/ppt/notesSlides/notesSlide11.xml" Id="R1f63079d3c6843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9d52c320d41f3" /><Relationship Type="http://schemas.openxmlformats.org/officeDocument/2006/relationships/notesSlide" Target="/ppt/notesSlides/notesSlide12.xml" Id="R87902fc1def142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41ec950d043af" /><Relationship Type="http://schemas.openxmlformats.org/officeDocument/2006/relationships/notesSlide" Target="/ppt/notesSlides/notesSlide13.xml" Id="Rd3d3df189f3343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456c885d54309" /><Relationship Type="http://schemas.openxmlformats.org/officeDocument/2006/relationships/chart" Target="/ppt/slides/charts/chart1.xml" Id="Rd72460388bc34ae0" /><Relationship Type="http://schemas.openxmlformats.org/officeDocument/2006/relationships/chart" Target="/ppt/slides/charts/chart2.xml" Id="R49da31e1e0624c9e" /><Relationship Type="http://schemas.openxmlformats.org/officeDocument/2006/relationships/chart" Target="/ppt/slides/charts/chart3.xml" Id="Rbcbafa94de564dff" /><Relationship Type="http://schemas.openxmlformats.org/officeDocument/2006/relationships/notesSlide" Target="/ppt/notesSlides/notesSlide14.xml" Id="R3dcf05e8a2e545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6e62f0c634110" /><Relationship Type="http://schemas.openxmlformats.org/officeDocument/2006/relationships/chart" Target="/ppt/slides/charts/chart4.xml" Id="R59dcfd7693c849e0" /><Relationship Type="http://schemas.openxmlformats.org/officeDocument/2006/relationships/chart" Target="/ppt/slides/charts/chart5.xml" Id="R2ea1c2b5bf3f4ed1" /><Relationship Type="http://schemas.openxmlformats.org/officeDocument/2006/relationships/chart" Target="/ppt/slides/charts/chart6.xml" Id="Rd3c9bba448124359" /><Relationship Type="http://schemas.openxmlformats.org/officeDocument/2006/relationships/notesSlide" Target="/ppt/notesSlides/notesSlide15.xml" Id="Rc1f38832eeab43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ec1b88d7349e5" /><Relationship Type="http://schemas.openxmlformats.org/officeDocument/2006/relationships/notesSlide" Target="/ppt/notesSlides/notesSlide16.xml" Id="R5df75e51a72f49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d7f3b2e43405c" /><Relationship Type="http://schemas.openxmlformats.org/officeDocument/2006/relationships/notesSlide" Target="/ppt/notesSlides/notesSlide17.xml" Id="Rcd2314475c4440d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Pacotes de controle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Pacotes</c:v>
          </c:tx>
          <c:spPr>
            <a:solidFill xmlns:a="http://schemas.openxmlformats.org/drawingml/2006/main">
              <a:srgbClr val="25B8C7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18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Taxa de controle (bit/s)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bit/s</c:v>
          </c:tx>
          <c:spPr>
            <a:solidFill xmlns:a="http://schemas.openxmlformats.org/drawingml/2006/main">
              <a:srgbClr val="E99B2B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768</c:v>
              </c:pt>
              <c:pt idx="1">
                <c:v>304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Rotas IPv4 em R1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Rotas</c:v>
          </c:tx>
          <c:spPr>
            <a:solidFill xmlns:a="http://schemas.openxmlformats.org/drawingml/2006/main">
              <a:srgbClr val="2B9A81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12</c:v>
              </c:pt>
              <c:pt idx="1">
                <c:v>7</c:v>
              </c:pt>
              <c:pt idx="2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RTT médio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ms</c:v>
          </c:tx>
          <c:spPr>
            <a:solidFill xmlns:a="http://schemas.openxmlformats.org/drawingml/2006/main">
              <a:srgbClr val="25B8C7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19.919</c:v>
              </c:pt>
              <c:pt idx="1">
                <c:v>24.966</c:v>
              </c:pt>
              <c:pt idx="2">
                <c:v>25.552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Vazão (Mb/s)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Mb/s</c:v>
          </c:tx>
          <c:spPr>
            <a:solidFill xmlns:a="http://schemas.openxmlformats.org/drawingml/2006/main">
              <a:srgbClr val="2B9A81"/>
            </a:solidFill>
          </c:spPr>
          <c:cat>
            <c:strLit>
              <c:ptCount val="3"/>
              <c:pt idx="0">
                <c:v>OSPF</c:v>
              </c:pt>
              <c:pt idx="1">
                <c:v>eBGP</c:v>
              </c:pt>
              <c:pt idx="2">
                <c:v>MC-Dijkstra</c:v>
              </c:pt>
            </c:strLit>
          </c:cat>
          <c:val>
            <c:numLit>
              <c:formatCode>General</c:formatCode>
              <c:ptCount val="3"/>
              <c:pt idx="0">
                <c:v>1518.94</c:v>
              </c:pt>
              <c:pt idx="1">
                <c:v>761.94</c:v>
              </c:pt>
              <c:pt idx="2">
                <c:v>1233.79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ptos"/>
                <a:ea typeface="Aptos"/>
                <a:cs typeface="Aptos"/>
              </a:rPr>
              <a:t>Recuperação observada (ms)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ms</c:v>
          </c:tx>
          <c:spPr>
            <a:solidFill xmlns:a="http://schemas.openxmlformats.org/drawingml/2006/main">
              <a:srgbClr val="EF685C"/>
            </a:solidFill>
          </c:spPr>
          <c:cat>
            <c:strLit>
              <c:ptCount val="3"/>
              <c:pt idx="0">
                <c:v>OSPF*</c:v>
              </c:pt>
              <c:pt idx="1">
                <c:v>eBGP*</c:v>
              </c:pt>
              <c:pt idx="2">
                <c:v>MC-Dijkstra*</c:v>
              </c:pt>
            </c:strLit>
          </c:cat>
          <c:val>
            <c:numLit>
              <c:formatCode>General</c:formatCode>
              <c:ptCount val="3"/>
              <c:pt idx="0">
                <c:v>32</c:v>
              </c:pt>
              <c:pt idx="1">
                <c:v>262</c:v>
              </c:pt>
              <c:pt idx="2">
                <c:v>61.471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1ADE1-844C-4B1C-AB46-D22E2A0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26C63-322F-4059-8084-A8CF4BC1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D2AC1-3C01-441C-BB72-8E848AFC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638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ROTEAMENTO IP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 TOPOLOGIA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REDUNDANTE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86D30-B61C-45FF-965A-081F9DCD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B8C7"/>
                </a:solidFill>
                <a:latin typeface="Aptos"/>
                <a:ea typeface="Aptos"/>
                <a:cs typeface="Aptos"/>
              </a:rPr>
              <a:t>OSPF, eBGP e algoritmo MC-Dijkstra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17039-9C7B-45EB-8ED9-55D0B833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9D5E2"/>
                </a:solidFill>
                <a:latin typeface="Aptos"/>
                <a:ea typeface="Aptos"/>
                <a:cs typeface="Aptos"/>
              </a:rPr>
              <a:t>Ambiente experimental com cinco roteadores em FRRouting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45B65-D640-4387-ACF0-97C6C650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14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E9FF8-7D70-47DF-8691-9A92E0C4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Henrique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0F836-2B2E-4256-B637-755AB109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27AA1-2189-4ADA-AD40-B5DD3457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908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51226-3960-4DCD-8780-E210EBDF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19373-02B7-4D37-B84C-CE00831D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43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4A290-A6BA-4874-AB43-3CAB1B7F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CB798-E1E2-49AE-973E-A51D939C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38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8816D-7CA9-4E57-B36A-3CEEB1B8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0478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2BCDC-EEE4-4C6F-A2E5-72E1394A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1431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BAAAB-BFFF-4F1B-9A96-9DED2BC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433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28575">
            <a:solidFill>
              <a:srgbClr val="775A9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52C79-DBA7-4841-BEBB-3D031F71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38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R5</a:t>
            </a:r>
          </a:p>
        </p:txBody>
      </p:sp>
      <p:cxnSp>
        <p:nvCxnSpPr>
          <p:cNvPr id="42" name=""/>
          <p:cNvCxnSpPr>
            <a:stCxn xmlns:a="http://schemas.openxmlformats.org/drawingml/2006/main" id="8" idx="7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V="1">
            <a:off x="8852390" y="2470640"/>
            <a:ext cx="840395" cy="697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5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852390" y="3518390"/>
            <a:ext cx="840395" cy="697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10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867900" y="2543175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0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0115550" y="22955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2" idx="7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V="1">
            <a:off x="10043015" y="2470640"/>
            <a:ext cx="1078520" cy="174527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0115550" y="43910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4" idx="4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96650" y="2543175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C839C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156668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1B6AC-44E0-496D-AB88-406B2C61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9AD16-925A-466A-BE51-D2E491E9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INTRODUÇÃO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331EB-C5B7-4A32-BBBB-087248D7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Objetivo e escopo técnico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E1A89-52B7-40C3-A0FF-0C28E5BB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experimento avalia como três soluções constroem rotas, mantêm conectividade e utilizam recursos de controle.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E2BB8-70E8-4882-BF5D-1F937B2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Questão central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9D45B-08C5-4A89-AB4A-A59CC2FD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93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a decisão de rota muda quando a rede oferece caminhos alternativos e um enlace fica indisponível?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C4D2-BAC7-44A9-AE0E-5716E3E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E56C7-59E9-4D7B-A0E4-402BDA14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D016F-64D1-4A4B-BC45-75610B51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475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Dois protocolos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44AE-C317-48D0-9B9A-733A61E2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475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OSPF representa roteamento interno baseado em estado de enlace. eBGP representa troca de rotas entre sistemas autônomos.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AD9CB-C7EB-48A9-8AD3-2379096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81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CBAD6-2022-47D8-BF29-7784F91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Um algoritmo próprio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E2177-85EC-4C96-9804-35C30565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71975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MC-Dijkstra combina atraso, capacidade nominal e confiabilidade para formar o custo de cada enlace.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0DCB2-C637-423D-8EB0-42357CE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3BDFC-A0AF-4576-959F-2FEE1C8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475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Execução separada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D8DD5-AF1B-4899-96E4-5A9063D2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4752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script recria a topologia antes de cada rodada. As soluções não operam simultaneamente.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6CFF8-661F-4D36-8DE5-79F1CBD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CC8B9-FFCC-4FD9-85E4-13C79B09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9112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Mesma rede de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74E84-6C1E-4BA5-9114-D7E906BE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67350"/>
            <a:ext cx="480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Cinco roteadores, sete enlaces redundantes e uma LAN de acesso ligada a cada roteador.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87199-963E-4DDC-993D-5DAFF4C1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868DD-B66D-4C51-B6B4-E91674AC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415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6DA9CA-767F-47BC-B742-92E49C13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29FAA-ECBE-46F0-B747-372DACAF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IMPLEMENTAÇÃO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6E5BF-BFCD-4FAF-8AC0-AFF82590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Plataforma e ferramentas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84E34-D157-4A9D-99A4-DFA0EB2E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rede inteira foi construída dentro de uma máquina virtual Ubuntu.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8890C-F712-4ED2-840A-70D95798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E2C18-3DA6-4C60-9FD7-D0C3648E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VirtualBox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8C897-AF4F-4064-8216-2089E64C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Isola o sistema convidado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C077C-233F-4D00-A0CE-83841638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847A9-089B-4C26-98C5-5783880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74F90-28CD-43E7-93EB-62EC18DD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Ubuntu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1085A-4661-4D21-8E83-6AE3D249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Hospeda o laboratório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1F3A3-DB11-4217-A06F-68AE68CF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01FF5-D680-4B9E-B133-20C003F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29B13-498A-4277-86D8-62617575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0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Namespaces Linux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64E57-14E2-459F-8427-FB5C50C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Representam R1 a R5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45ADC-ABA6-4147-B7B8-D272ED3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42862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52264-729D-4C0C-AD4C-39C4A632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952625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AB232-A002-49B2-B36D-C106556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FRRouting 10.5.1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81AA6-5423-4962-881B-0A9CB0C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Executa OSPF e eBGP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214A0-5817-46E3-B553-B955352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Medição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B0E88-348B-48A9-BB26-D6CE4D21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90CFA-4F3F-41C1-B53B-744CA28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tc netem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D2D71-FC7E-452F-B723-41D077EB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Insere atraso em cada par de interfaces veth.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05B2E-B2D1-4AB7-8B76-F92D66AB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73BA0-B27A-48F4-BCCC-A7376CBB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96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tcpdump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3336D-166A-47DA-9221-55626C7E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Conta pacotes e bytes de controle durante 6 segundos.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DA210-4A9C-45BE-9CF9-F2B876D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E7565B-AC5D-4374-974A-A5F741B5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962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ping e iperf3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A75966-4E31-4C67-AD84-191EFD40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95850"/>
            <a:ext cx="308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Medem RTT e vazão entre as LANs de R1 e R5.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A87EC-0AD1-4CCB-81DC-B413600F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A33EB-ED6F-40FB-8334-2260F8F0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4759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035934-5D06-4221-AC6B-B85BEB5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7FDBB-3DBB-4AE1-879E-E145F7D3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TOPOLOGIA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301A6-33C3-44DF-B5C0-97E1093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Topologia física virtual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C3FE5-C155-4A0D-A5E1-AC795882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10875" cy="4524375"/>
          </a:xfrm>
          <a:prstGeom xmlns:a="http://schemas.openxmlformats.org/drawingml/2006/main" prst="roundRect">
            <a:avLst>
              <a:gd name="adj" fmla="val 3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FD7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B0906-F30C-42A1-AC2C-F673C9D8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Máquina virtual Ubuntu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ED42F-DD05-46CE-9CFA-EC9E7075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EF685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C7E75-7E7F-4491-B6C8-CBFC5AD3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0F2C3-E351-4C8D-B673-3CC993CD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10.10.1.1/24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2025A-322D-4B34-8332-02538026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25B8C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82347-37A4-49F7-A2C4-EFEF1B8B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51191-A9DC-40F1-AB10-33A39B51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10.10.2.1/24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3E955-71BF-46FE-9892-5D538C8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E99B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A5207-F179-42C1-8D6F-3D55D41B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B1217-866F-4B3B-BFC9-BCCD86A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10.10.3.1/24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0E135-58C1-4181-A64F-19452173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2B9A8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A2B4F-1FEC-4BE3-884D-CBF14D31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520C-0049-413A-8167-705006FE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10.10.4.1/24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13966-03F3-4B92-8C6B-2526209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16668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28575">
            <a:solidFill>
              <a:srgbClr val="775A9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8C290-3C3D-407D-930E-ADE82AD9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Namespace r5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8094F-53D4-484C-842F-40124E85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52750"/>
            <a:ext cx="1438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zebra + protocolo</a:t>
            </a:r>
          </a:p>
          <a:p xmlns:a="http://schemas.openxmlformats.org/drawingml/2006/main">
            <a:pPr algn="ctr">
              <a:defRPr sz="10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lan: 10.10.5.1/24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D3F2C-2655-4224-B813-F2658C5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7182C"/>
                </a:solidFill>
                <a:latin typeface="Aptos"/>
                <a:ea typeface="Aptos"/>
                <a:cs typeface="Aptos"/>
              </a:rPr>
              <a:t>Os pares veth funcionam como cabos virtuais. Cada enlace possui duas interfaces e uma rede /30.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210EE-452F-454C-B139-912D0AEC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1487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LAN usa uma interface dummy. O kernel encaminha pacotes porque net.ipv4.ip_forward está habilitado.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71995-3F1F-4D57-916E-9EC574D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B8C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9A2D6-07E0-40F5-B477-BC73660D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Um único computador simula cinco roteadores independentes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9280F-E27B-409D-9840-DB225CC7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17C6AE-88B2-42DD-94A7-8DE10F40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3654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CE0A6D-3414-47E2-AAA2-1842A73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97FE2-90E7-4058-A040-917A6E1F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TOPOLOGIA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8ED90-1862-4D5A-AB04-5E1B95EC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Topologia lógica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2E8AE-973F-4224-A9AE-FFB09CA4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Sete enlaces criam rotas alternativas. As LANs de acesso usam 10.10.N.0/24.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5285C-0957-4A9A-8462-752DC9A3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F685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CCB10-6BFE-433D-9C23-E0D5CC27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3E74A-D99A-4F95-ADEC-E5535E6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5B8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AE73F-C383-4886-BDFF-B6626D59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09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FCE05-7EFB-4DAF-82DF-CB6AE822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148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E99B2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4B521-B19F-4746-AA3B-6BC810E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77AB4-E5DA-47B9-9E40-0716BA25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B9A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25179-A701-4B87-923F-B7D7600B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809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C8AA0-940A-4224-915E-1A77067E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75A9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53BD1-5AC7-4F63-B5A3-9DA41B2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05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R5</a:t>
            </a:r>
          </a:p>
        </p:txBody>
      </p:sp>
      <p:cxnSp>
        <p:nvCxnSpPr>
          <p:cNvPr id="58" name=""/>
          <p:cNvCxnSpPr>
            <a:stCxn xmlns:a="http://schemas.openxmlformats.org/drawingml/2006/main" id="5" idx="7"/>
            <a:endCxn xmlns:a="http://schemas.openxmlformats.org/drawingml/2006/main" id="7" idx="3"/>
          </p:cNvCxnSpPr>
          <p:nvPr/>
        </p:nvCxnSpPr>
        <p:spPr>
          <a:xfrm xmlns:a="http://schemas.openxmlformats.org/drawingml/2006/main" flipV="1">
            <a:off x="1616378" y="2302178"/>
            <a:ext cx="2120294" cy="95824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59" name=""/>
          <p:cNvCxnSpPr>
            <a:stCxn xmlns:a="http://schemas.openxmlformats.org/drawingml/2006/main" id="5" idx="5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616378" y="3826178"/>
            <a:ext cx="2120294" cy="100586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7" idx="4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019550" y="2419350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7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4419600" y="2019300"/>
            <a:ext cx="3248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9" idx="7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V="1">
            <a:off x="4302428" y="2302178"/>
            <a:ext cx="3482369" cy="252986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4419600" y="5114925"/>
            <a:ext cx="32480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cxnSp>
        <p:nvCxnSpPr>
          <p:cNvPr id="64" name=""/>
          <p:cNvCxnSpPr>
            <a:stCxn xmlns:a="http://schemas.openxmlformats.org/drawingml/2006/main" id="11" idx="4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067675" y="2419350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02A46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DDB4E-72EB-4ABD-979C-9EBF22F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10.0.12.0/30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0C169-0F18-4561-A1EE-21D9AD7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10.0.13.0/30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4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65D7C-2766-4C36-89DC-38F2DCB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10.0.23.0/30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9873E-3A56-4604-B2E7-D02CB2D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573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10.0.24.0/30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8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87FD9D-EEBB-4316-A0B9-0BDE0E6F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3850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10.0.34.0/30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3 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7AC43-E44F-4B59-B5DA-AAC752EA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53050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10.0.35.0/30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7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954A0-E837-497D-9C8C-217CD0EE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90875"/>
            <a:ext cx="121920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10.0.45.0/30</a:t>
            </a:r>
          </a:p>
          <a:p xmlns:a="http://schemas.openxmlformats.org/drawingml/2006/main">
            <a:pPr algn="ctr">
              <a:defRPr sz="9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7DA25E-AC99-41C9-9DE4-D926A819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10.10.1.0/24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6183A-41D0-46D3-9C46-268EF396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00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R2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10.10.2.0/24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E8BCC0-C79A-43BD-96EB-24F47D2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72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R3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10.10.3.0/24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96B33-D3A7-4B56-977D-6920C108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000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R4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10.10.4.0/24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428DC-4BB1-4F96-A291-21B92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721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R5 LAN</a:t>
            </a:r>
          </a:p>
          <a:p xmlns:a="http://schemas.openxmlformats.org/drawingml/2006/main">
            <a:pPr algn="ctr">
              <a:defRPr sz="90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10.10.5.0/24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8DB23-405F-4891-83A8-0B6010AE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809750" cy="41910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C73E78-67A3-4C46-A152-CF049DC1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LEGENDA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D94E2C-C442-4065-8A4D-08B0C337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288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Rede /30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EF635D-5F17-402C-9CEA-5C4AD9D2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14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identifica o enlace ponto a ponto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DD0A13-4ECD-4BFF-9BE3-78325AF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766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Atraso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73641-7FDB-4F6F-A9F4-4AA7AA1F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62375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configurado nas duas extremidades com netem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9B4BD2-1277-4134-A264-52396A35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96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Redundância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61E705-7A09-41DF-9883-55127123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05375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0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R1 alcança R5 por mais de uma sequência de roteadores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AFBCEA-83CC-438D-9639-0D1E7340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2A69E-F1AB-421F-878B-0E3CAC2D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3110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32588-59CE-481B-AA50-89C64886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B100A-C4EB-42FE-B02A-30F0FF4B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MÉTODO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43504-2E97-4550-AC1E-DB29114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os testes foram feitos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D079B-31CE-4B75-8931-7018F20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solução foi ligada sozinha. Depois a rede foi testada e um enlace foi desligado.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D8DD-6142-41D2-833E-617A4C00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F6EB2-AFAB-4169-96B9-34EF9163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OSPF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8D720-E249-454E-B334-103BD56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Falha em R3-R4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BAC97-4E47-43AF-99EA-62D28D5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FRRouting manteve a comunicação usando os caminhos disponíveis.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D4D6A-68B2-4067-B66D-148EB95F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8DDC5-3823-4644-8498-10769B6F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eBGP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956BB-2DD4-42A9-9E49-677C0989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Falha em R3-R5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AB2F2-3D2E-45DA-9FE4-14BE56B2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90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rota para a LAN 5 passou a chegar ao R5 pelo R4.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EBA3D-D1A9-4E95-BD07-9A2A7C7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5EF65-52AD-4276-99AC-BB1F88C5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MC-Dijkstra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67DE-B419-4E67-9444-EB2FB495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Falha em R1-R3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1C017-BDB7-4DA2-9C28-DF73CAE4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programa calculou outra rota, agora começando por R2.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4C54B-FC9B-4FCF-AED1-79A9438A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9334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EF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7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Os enlaces desligados foram diferentes. Por isso, os tempos mostram o que aconteceu em cada teste, mas não definem sozinhos qual solução é melhor.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76CB7-564C-4DA5-98A2-B9A8D5D7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DBC6F-37B2-4662-8BCE-85F7B3C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4843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FB622-DC2B-4C5A-A0B8-02D43A7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85866-C35E-40FD-BD1E-E34C6DF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5F088-E357-42DD-B23C-327B5AAE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OSPF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9BC2C-A2E4-42DD-963E-78132E5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OSPF é um protocolo usado para encontrar caminhos dentro de uma mesma rede ou organização.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320BB-B457-40A7-96E7-AE68858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6870C-5F7D-4F71-8844-B5C66252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Uma comparação simples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F8844-1229-4907-9B51-519CC35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Imagine que cada roteador possui um mapa das estradas. Quando uma estrada muda, os roteadores avisam uns aos outros e atualizam seus mapas.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232BB-A6F9-4193-862B-FA133D50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escolhe a rota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4B648-7BB2-4777-B34E-932FC64C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0D293-E0F9-4D30-8577-F97EEEF8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1937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Conhece os vizinhos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9ED58-EE6D-4775-AD73-71BFD62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roteador descobre quais roteadores estão ligados diretamente a ele.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494EC-EC56-49BC-A1EE-9DC2508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287CB-3D20-4722-A260-2E9CAFE4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Monta um 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C7000-CDF6-4A3E-A1B2-CCC83237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004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Os roteadores compartilham informações sobre os enlaces da rede.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19983-EC82-4977-A83C-F4A6361F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B8D73-624C-4C83-AC1E-AE908B7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Escolhe o menor custo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56D57-59F3-42EB-B279-0D233A8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053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caminho com a menor soma de custos é instalado na tabela de rotas.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B8F23-F3B7-4C13-8510-2EAD2C88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6C722-43E1-41EA-AA37-11E26E7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64138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03439-9964-4E22-AE56-69124580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D84F8-975D-45E4-BC6D-74C22602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ECC5D-1642-4F3D-9664-0AC0F73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OSPF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5398-E828-45E1-ACEB-39A79D2E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FRRouting executou o OSPF nos cinco roteadores.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41819-FD2E-4607-B5F0-DDC741D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encontrou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A7260-42D7-4848-9179-7C13D7D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R2 e R3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47629-E540-4F04-AF86-C1FC4502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como vizinhos diretos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5356A-FF44-46BD-9815-774E7A4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C7159-A9A9-4306-B53A-C7786BFD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R1 aprendeu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B8BD3-671D-4323-922C-5242D214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12 rotas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3AE45-A6B3-43EE-8A44-6A40EACA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incluindo as LANs dos outros roteadores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55C93-AD3A-4D02-AF8D-2260C152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9525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2A6C5-B2F2-4257-8F2F-0E48D729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Durante a falha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019FB-6C1C-4E0E-95D9-6A4CB113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R3-R4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36B2D-D9F7-4DB4-8F9B-F3282FD2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comunicação entre R1 e R5 continuou funcionando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ED371-706B-4586-B148-8F842DB8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33875"/>
            <a:ext cx="8953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2D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D1A2B"/>
                </a:solidFill>
                <a:latin typeface="Aptos"/>
                <a:ea typeface="Aptos"/>
                <a:cs typeface="Aptos"/>
              </a:rPr>
              <a:t>Na captura feita, R1 já alcançava a LAN 5 começando pelo R2. Por isso, a queda de R3-R4 não obrigou R1 a trocar o primeiro roteador do caminho.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7742E-5C5F-4A4F-8F32-26C0DB3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1B86C-1522-4088-938B-FDB87665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603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A3B99-004B-4E29-B7DB-084BDB8B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1B999-00B5-4741-A5B2-CD88E144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58AA4-243E-41ED-94E1-ED725885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eBGP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51DD3-BD89-4307-85A5-13E184E1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eBGP é usado para trocar informações de rota entre redes administradas separadamente.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558E8-CBB2-4DE0-807B-95BEB10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476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DED70-663E-4BE1-8466-205A7D26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O que significa AS?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D1969-76E2-4CF7-AF2C-1935BA0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3619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Um Sistema Autônomo, ou AS, representa uma rede sob uma administração. Na Internet, empresas e provedores usam números de AS para se identificar.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80D2C-5EDA-45C5-B7AF-8B8AFDA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escolhe a rota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FD9C9-9513-4725-A7C9-8FE6A476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D870D-9B7D-4EC9-B4A6-C4815AC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Anuncia redes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20CE1-8920-4974-BA4F-3EE48EC8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47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roteador informa aos vizinhos quais redes consegue alcançar.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74E9F4-7DCF-452D-958B-E70BACA2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C259B4-A027-42CA-A39D-64110185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Registra o caminho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EFA54-317D-4D12-A80C-3645CB17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1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 rota guarda a lista dos AS atravessados. Isso também ajuda a evitar loops.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EA03E-CB05-45D2-86AB-FEBDB06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1C307-4458-46F6-AEE7-766C4DA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Permite políticas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98BAD-C55B-46CE-8ED4-66AB969A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52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administrador pode escolher caminhos por regras, não apenas pela menor distância.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EA7EA-420B-4A07-B83E-BAF78BF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ACA51-939F-4328-BCE9-930E71B3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0810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D0310-F436-43E5-A7B3-8879D11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0BD84-AF7C-4FE3-9444-B4D18B65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PROTOCOLO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03DE-746A-4201-97D7-DD7E665A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eBGP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43B9D-C02C-4847-A569-D35EB19C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Cada roteador recebeu um número de AS e anunciou sua própria 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A7BE8-6C0B-4D40-A6A8-263FF099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71FF9-B921-4736-B791-7D98CD5A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AS 65001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B870F-7CAC-4D11-B43C-00E0297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2 vizinhos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1B878-6CAA-47E4-A916-C19C847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R2 e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36C65-6100-4286-B7E0-91A1D218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4 rotas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7AE0A-71DD-43CE-813E-C3D4DF40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recebidas de cada vizinho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74781-BAB5-494F-9B96-CA96279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B9A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B9A81"/>
                </a:solidFill>
                <a:latin typeface="Aptos"/>
                <a:ea typeface="Aptos"/>
                <a:cs typeface="Aptos"/>
              </a:rPr>
              <a:t>LAN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C97B0-74E4-47DB-AD7B-8BB61BF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193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inicialmente alcançada por R3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3BE18-C173-4F76-8434-408ADEEF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91483-FE75-4865-98F5-DC3CBEF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Quando o enlace R3-R5 caiu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FAD65-D40D-4541-B7CB-E004D99C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o caminho alternativo chegou ao R5 pelo 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58ABA-996E-4F37-815A-025FD35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262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60F0A-E4E0-40D2-92DE-FE0C028B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tempo observado até a comunicação responder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F0EF2-C7F4-46BA-9CAE-4409DC0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EF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resultado mostra a principal função do eBGP: retirar um caminho que deixou de existir e divulgar outra possibilidade.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C3CFD-09E9-4C1A-B834-C212C537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283CF4-7E13-4C84-9048-42B8D59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6052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DD367-D669-4C5F-AC44-1F084A43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B0658-EF27-4E8A-A35D-863FB655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ALGORITMO PRÓPRIO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B32B2-CA3E-441F-9F0F-4ED8E212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é MC-Dijkstra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44431-4AC3-4D2F-B0A5-A23114FF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MC-Dijkstra é o algoritmo criado para este trabalho. Ele não é um protocolo padrão como OSPF ou eBGP.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76535-1862-4B3B-9FEA-7FBDD9E7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solidFill>
              <a:srgbClr val="0718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E621-A1C4-41F8-862A-E01EA36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99B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99B2B"/>
                </a:solidFill>
                <a:latin typeface="Aptos"/>
                <a:ea typeface="Aptos"/>
                <a:cs typeface="Aptos"/>
              </a:rPr>
              <a:t>Ideia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C797E-43BB-49C3-8897-DACF7E60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 programa dá uma nota para cada enlace. Depois soma as notas de cada caminho e escolhe aquele com o menor valor total.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0401E-5274-4D2F-B79F-01A91842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forma a nota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1E119-AAD2-4709-AB79-CA880FD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57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66D3E-7DCA-4F7E-B02D-10495CE9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Atraso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629E2-E560-46C4-8EFB-543B665D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479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Quanto maior o atraso, maior a nota do enlace.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802A0-2F0B-4DD0-818E-E31E0696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6B8D4-D14B-4601-B218-0367AF0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Capacidade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B8ECA-D0D9-4DC3-B9E9-7188EDDC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0522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Uma capacidade menor aumenta a nota.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1222B-8839-4FFB-800E-32F559B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C9E64-28BF-4A3F-9EA7-ED9AE72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Confiabilidade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01FC8-D1C2-412F-B12F-786493F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62475"/>
            <a:ext cx="470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Um enlace menos confiável recebe uma penalidade maior.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1BF7C-B0E3-4A19-88C6-D2ABFE1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BEC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5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nota = atraso + 100 / capacidade + 25 x (1 - confiabilidade)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F6088-E2B4-4E5A-B077-3B501E8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66469-86FD-4061-8D98-0344BDFE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4209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E405E-7818-4755-94C1-500AE254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3F618-209A-4797-BA21-12278A95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ALGORITMO PRÓPRIO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E0644-48F4-4EC4-81D0-573CEA7C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Como o MC-Dijkstra funcionou no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DF9C1-4650-4DBD-AB01-69367A5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O programa calculou as rotas e colocou o resultado diretamente na tabela de cada roteador.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3CF8F-5A18-4E66-B63C-6555C5BC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B6B7B"/>
                </a:solidFill>
                <a:latin typeface="Aptos"/>
                <a:ea typeface="Aptos"/>
                <a:cs typeface="Aptos"/>
              </a:rPr>
              <a:t>Antes da falha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78170-A3D1-49FE-932B-AC89C3A1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9A8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B9A81"/>
                </a:solidFill>
                <a:latin typeface="Aptos"/>
                <a:ea typeface="Aptos"/>
                <a:cs typeface="Aptos"/>
              </a:rPr>
              <a:t>R1 - R3 - R4 - R5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2ED2C-94CE-4669-9263-2706CC83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nota total 15,50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A3A98-1AC8-4DE8-A131-AEB1A0A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904875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7DE"/>
          </a:solidFill>
          <a:ln xmlns:a="http://schemas.openxmlformats.org/drawingml/2006/main" w="0">
            <a:solidFill>
              <a:srgbClr val="CFD7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701B1-4A05-4B1F-AE38-4DCD036F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R1-R3 caiu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4158F-A007-4766-B74B-2FED3EE2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R1 - R2 - R4 - R5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4C875-26AA-4514-A126-2295B109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nota total 16,00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DB56A-CF6D-401A-85FB-A7205ED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AC2F7-EB3C-47F9-AC15-CA093D0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o programa fez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0E1C0-FA4B-425C-B21B-3B6649F4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CB899-50D0-4ECF-B54A-FE02185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Removeu a rota antiga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42CD9-1B81-4F22-97C4-AA92FA26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Isso evita que o sistema continue tentando usar o enlace que caiu.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BD8FB-9D20-4B10-A897-90664098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248D3-2665-463B-A945-F7320057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57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D1A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D1A2B"/>
                </a:solidFill>
                <a:latin typeface="Aptos"/>
                <a:ea typeface="Aptos"/>
                <a:cs typeface="Aptos"/>
              </a:rPr>
              <a:t>Instalou a nova rota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C02B7-7CFA-4607-B323-079F503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339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Foram instaladas 20 rotas em todos os roteadores.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23637-F1C3-4CE2-8AF6-B9E1EDFA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055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61,471 ms para recalcular e instalar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99F2D-3938-420D-B093-BEF83A2B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FF891-4156-491A-BA30-242BC2F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5220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B3FF8-9718-4E83-AB72-0516CF17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C40EE-18FD-40B8-AA3A-4F4215D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AVALIAÇÃO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B410E-FBB9-4BC4-A180-F4CA93D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O que foi medido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47750" y="1714500"/>
          <a:ext xmlns:a="http://schemas.openxmlformats.org/drawingml/2006/main" cx="10096500" cy="3571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4762500"/>
                <a:gridCol w="2762250"/>
              </a:tblGrid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Medição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Pergunta respondida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Ferramenta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Quantidade de rotas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Quantos caminhos aparecem em R1?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ip route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Pacotes de controle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os roteadores conversam entre si?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tcpdump por 6 segundos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Tempo de resposta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tempo um ping leva entre R1 e R5?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Vazão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Quantos dados passam entre R1 e R5?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iperf3 por 3 segundos</a:t>
                      </a:r>
                    </a:p>
                  </a:txBody>
                  <a:tcPr marL="91440" marR="91440" marT="45720" marB="45720" anchor="ctr">
                    <a:solidFill>
                      <a:srgbClr val="DFEFF4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Recuperação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Quanto tempo a comunicação leva para voltar?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falha seguida de pings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9AA0-099C-451B-AC77-CA59160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67375"/>
            <a:ext cx="8763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BECD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A vazão ficou acima de 1 Gb/s porque os enlaces são virtuais e não receberam um limite físico de 100 Mb/s.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BF655-2558-47F3-BA0E-93286E88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98204-9593-407B-A761-1D935F9A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9108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D3A14-1776-4697-8228-C46246C7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0035D-C599-4EAE-A52F-A3890D0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66EEB-8476-43F5-8533-749F81D8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Plano de controle e tamanho da tabela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4EF2E-9E53-4E7E-A310-14475C5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As capturas ocorreram na interface r1r3 durante 6 segundos.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2460388bc34ae0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33387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da31e1e0624c9e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48625" y="1762125"/>
          <a:ext xmlns:a="http://schemas.openxmlformats.org/drawingml/2006/main" cx="3381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bafa94de564df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31C0F-BFF9-49FC-82A2-D73920B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F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MC-Dijkstra aparece com zero porque ele não troca mensagens de protocolo. Um único programa calcula e instala as rotas.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945DD-7CCA-45F7-B967-251938DE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8EC53-CD90-45AF-B96D-B6F49E8D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92712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E0731-D0EC-4082-B490-47565E0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3F3EE-82C9-4E07-AB67-2ABD29A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F4A83-4CD9-4EB5-B778-80DD1437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Desempenho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97F55-FBD4-4769-96FE-72A42FD3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B"/>
                </a:solidFill>
                <a:latin typeface="Aptos"/>
                <a:ea typeface="Aptos"/>
                <a:cs typeface="Aptos"/>
              </a:rPr>
              <a:t>RTT e vazão usam o fluxo entre 10.10.1.1 e 10.10.5.1.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347662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dcfd7693c849e0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333875" y="1714500"/>
          <a:ext xmlns:a="http://schemas.openxmlformats.org/drawingml/2006/main" cx="347662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a1c2b5bf3f4ed1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143875" y="1714500"/>
          <a:ext xmlns:a="http://schemas.openxmlformats.org/drawingml/2006/main" cx="347662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c9bba44812435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349AE-27A2-45BE-8A0E-80820C6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EF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* Cada solução recebeu uma falha diferente. Por isso, estes tempos mostram os testes realizados, mas não formam uma disputa direta entre as soluções.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03C4F-779C-4320-A0EC-B4F875F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A50AC-18BC-4E12-AFDD-89F469B3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84138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9B2F7-B5B2-4C5F-8A59-78569C81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C224A-0407-48DA-B68D-8515AAF4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68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685C"/>
                </a:solidFill>
                <a:latin typeface="Aptos"/>
                <a:ea typeface="Aptos"/>
                <a:cs typeface="Aptos"/>
              </a:rPr>
              <a:t>DISCUSSÃO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3CC5B-F8CD-4B24-B203-E32A6342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Comparação simples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10875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3000375"/>
                <a:gridCol w="3000375"/>
                <a:gridCol w="3000375"/>
              </a:tblGrid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Pergunta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OSPF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eBGP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MC-Dijkstra</a:t>
                      </a:r>
                    </a:p>
                  </a:txBody>
                  <a:tcPr marL="91440" marR="91440" marT="45720" marB="45720" anchor="ctr">
                    <a:solidFill>
                      <a:srgbClr val="07182C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Como pensa?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Mantém um mapa da rede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Troca caminhos entre redes diferentes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Dá uma nota para cada enlace</a:t>
                      </a:r>
                    </a:p>
                  </a:txBody>
                  <a:tcPr marL="91440" marR="91440" marT="45720" marB="45720" anchor="ctr">
                    <a:solidFill>
                      <a:srgbClr val="DFF4F5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Ponto forte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Adaptação automática dentro da rede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Permite regras entre redes e provedores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Usa critérios escolhidos pelo projeto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Limitação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Todos trocam informações sobre a topologia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Configuração mais trabalhosa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Depende do programa central</a:t>
                      </a:r>
                    </a:p>
                  </a:txBody>
                  <a:tcPr marL="91440" marR="91440" marT="45720" marB="45720" anchor="ctr">
                    <a:solidFill>
                      <a:srgbClr val="FBECD4"/>
                    </a:solidFill>
                  </a:tcPr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Melhor uso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Rede interna de uma organização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Ligação entre organizações ou provedores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0D1A2B"/>
                          </a:solidFill>
                          <a:latin typeface="Aptos"/>
                          <a:ea typeface="Aptos"/>
                          <a:cs typeface="Aptos"/>
                        </a:rPr>
                        <a:t>Rede com necessidades específicas</a:t>
                      </a:r>
                    </a:p>
                  </a:txBody>
                  <a:tcPr marL="91440" marR="91440" marT="45720" marB="45720" anchor="ctr">
                    <a:solidFill>
                      <a:srgbClr val="DDEF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401A6-B0B1-4088-85AD-54107D2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Nenhuma solução é melhor em tudo. A escolha depende do tipo de rede e do objetivo do administrador.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69945-12E3-466C-AE2F-83E3900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8FE0-A16B-4788-9810-3DA64CD4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912902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8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D91AF-5D15-4340-8F49-029F7199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7D8D1-F8DD-4DC7-AD08-69049DC3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SÍNTESE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D99CF-093F-4E7A-8F42-765B95C9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Conclusão: OSPF foi a melhor opção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1F4FC-E549-41B1-A02F-718C682A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5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9D5E2"/>
                </a:solidFill>
                <a:latin typeface="Aptos"/>
                <a:ea typeface="Aptos"/>
                <a:cs typeface="Aptos"/>
              </a:rPr>
              <a:t>Depois dos testes anteriores, a mesma falha R3-R5 foi executada três vezes nas três soluções.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B36AA-5CCE-469A-A0BB-E2A8D5EF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8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6CB9D-F71D-4EF0-975F-11095D5A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Comparação posterior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3CC81-CDE4-4F5A-9D61-2F85C3E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O tempo médio até o primeiro ping confirmado foi 29 ms no OSPF, 184 ms no MC-Dijkstra e 1.212 ms no eBGP.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82813-0B5D-429A-892D-D803A0C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85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39E1-6E0E-4835-B608-08AAFE54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 que aconteceu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5A76B-41B7-48CF-BBBE-B34830E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OSPF e MC-Dijkstra já evitavam R3-R5. O eBGP usava esse enlace e precisou trocar a rota em R3.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3351D-EDAA-48D9-8892-D75157EB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301C2-B22D-4DEA-9ED0-881318E4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o OSPF foi melhor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670DB-41AB-464E-B93D-3C341CF8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Na rede interna, ele combinou resposta rápida e adaptação automática. Também teve o menor RTT e a maior vazão nos testes anteriores.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68674-BEDC-4C71-9866-E7BBDC1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9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FD5BF-01DF-43DD-A7EA-7DE0C43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Teste seguro e repetível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63D51-8A10-45B1-B940-1EE9EE8C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48225"/>
            <a:ext cx="1003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A VM isolou o laboratório. O script recria a topologia, aplica a mesma falha e salva as evidências.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B90AB-CF97-43DD-99AE-582D3D39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906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02A4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Todos funcionaram. Para esta rede interna, o OSPF apresentou a melhor combinação de rapidez, automação e estabilidade.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40617-6025-4C8D-8EA2-D17EFAF6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0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1EE0C-5133-4A2B-9CCC-E8A8475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5B8C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B8C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8991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2026-10-01T20:40:40.8690000Z</dcterms:created>
  <dcterms:modified xsi:type="dcterms:W3CDTF">2026-10-01T20:40:40.8690000Z</dcterms:modified>
</coreProperties>
</file>